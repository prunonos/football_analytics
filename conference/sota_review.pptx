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0" r:id="rId19"/>
    <p:sldId id="264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E5E22-EF27-EE4E-6D9A-F2F7D4576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F95BF6-D0FE-6C48-D104-734D29DE7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F1EC34-397B-3F43-C4F3-E61B1F2A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EE13C4-A3C8-0B87-C8DF-CECAB7CA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609034-5451-1B64-AB64-93C14517E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833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9445D-FD78-CE1F-640D-5C013A3CD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DAEAD0-45CF-E8F4-92A8-90A579B5D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570AA1-A44A-8D9B-F427-E063A82E7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A0ADEE-55FF-7D02-92AE-03A6D7A0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276497-1A7A-2DFA-FE74-E235AB17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621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16520-B151-620C-46F5-157A782E4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5BAE47-E7BD-179E-DB8C-1240FC42E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9E0430-C939-2232-CCC5-8E532D045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FC3996-F97F-751F-0178-6055355B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78422E-0A83-81B0-EF3B-EDC250646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92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2BA564-1840-B78B-509B-0EA99453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C37443-EFF0-0B04-8B98-E046FEAC7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875A87-72B2-B9A6-C5E6-4372D574C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D46085-5588-A868-5398-E7265F7A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9C882D-9526-E2E2-1EDC-CA66AABA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502F21-2C74-3A11-8E65-1849C1E5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6890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BFF11-5E4A-73D6-7E10-8950A68E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15D015-4B2E-5705-38D8-FE2E36925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333AC2-E80D-1B55-428D-BCAADB688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DF8BBD-3F3F-9359-CA75-9F72DC158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074B0E4-5F17-3497-DB55-CE638E120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9407C6-D760-B6D2-DCC2-6B421288D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64D35E-6890-3949-80BD-FCA61CDA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F661B8-58F2-1F82-72CE-C2722D28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374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5D3C4-8576-66CF-111D-EA9105F6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7E9CDD-0251-961C-2E8C-267318DB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CA87F3B-9D27-567A-3839-2B16EAA67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AB3206-1744-AF0C-F5DA-83547D62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621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7EC1A8-9CA9-27ED-5284-88792A62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D0D9C6-CC15-E058-124F-C3D36188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05156F-ADFD-17B6-F7CD-2C8E0FA5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188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71256-94A5-3654-81B3-9059ADD83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A2BA16-DADD-F002-6BB7-F38071FCF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E3F5E4-866F-6930-0C72-76034B5C1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106FE6-8447-D567-9DC2-3D19C327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5F978D-9DFD-AB1E-EEB7-1C41FB4B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FEC68D-D20A-E658-3320-7AC27A29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3447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00F7D-5AE0-69A5-3CAF-3693DCE0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924C34A-F46F-2E36-22A5-0F2A1E16D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3D50E1-A630-FE79-6365-817C07874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D1CD98-F6C3-4833-B01B-091870E6A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7D1B54-81CE-A34D-3C8E-0FB7BFC9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FDE71C-C016-273A-060D-6C5D1A8D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339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F63E6-14B3-D16B-66B7-9EBF9F66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8BC642-7A2F-BB2F-D0C4-6A7EDC6E6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CECADC-C873-FBCF-A1B1-C8F254B27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0D217D-8D0F-F44E-BB05-A185D974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5CA678-9ED8-B976-51CE-BAB95F5D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3978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154E9B-4796-9E24-3B14-AD3D04358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A25FC6-74E9-FF4E-4EEF-C12B5D81D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01623C-73C5-F6E7-727B-0792BB90F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9FE192-478D-3427-C0DD-68553C21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14402B-5991-47D5-1769-2E91ADCD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159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89966F-7AA2-6EB8-95EB-21E7225F3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5EFDCD-0079-AC2A-ECFA-FC78CD784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37C021-B9C4-A2FD-313B-281B2D266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BA364-579A-4DCC-955B-124A1042090C}" type="datetimeFigureOut">
              <a:rPr lang="es-ES" smtClean="0"/>
              <a:t>02/05/2023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D98E67-C8ED-E4D9-4949-D8DFC8A84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7254E2-346A-4FCB-5A75-C600A0DCF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FE106-57B5-4AB2-9B60-589F8C390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2883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ansfermarkt.es/" TargetMode="External"/><Relationship Id="rId2" Type="http://schemas.openxmlformats.org/officeDocument/2006/relationships/hyperlink" Target="https://www.football-data.co.uk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cupdate.nl/" TargetMode="External"/><Relationship Id="rId4" Type="http://schemas.openxmlformats.org/officeDocument/2006/relationships/hyperlink" Target="https://www.elfvoetbal.nl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hyperlink" Target="https://www.football-data.co.uk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football-data.co.u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www.football-data.co.uk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www.football-data.co.u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ootball-data.co.uk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C1220-D20B-E828-0039-CFBF86567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98761"/>
            <a:ext cx="9144000" cy="1660478"/>
          </a:xfrm>
        </p:spPr>
        <p:txBody>
          <a:bodyPr>
            <a:normAutofit fontScale="90000"/>
          </a:bodyPr>
          <a:lstStyle/>
          <a:p>
            <a:r>
              <a:rPr lang="es-ES" i="1" dirty="0"/>
              <a:t>STATE OF </a:t>
            </a:r>
            <a:r>
              <a:rPr lang="es-ES" sz="6600" i="1" dirty="0"/>
              <a:t>THE</a:t>
            </a:r>
            <a:r>
              <a:rPr lang="es-ES" i="1" dirty="0"/>
              <a:t> ART</a:t>
            </a:r>
            <a:br>
              <a:rPr lang="es-ES" dirty="0"/>
            </a:br>
            <a:r>
              <a:rPr lang="es-ES" b="1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702932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5D20A-BA81-FB40-F9A6-A0CAA9E4B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The Dutch Football Competition Using Public Data: A Machine Learning Approach (2015)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FAA00E-F2BD-CF34-5509-3BAF8374F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1800" b="1" dirty="0"/>
              <a:t>Niek Tax and </a:t>
            </a:r>
            <a:r>
              <a:rPr lang="en-US" sz="1800" b="1" dirty="0" err="1"/>
              <a:t>Yme</a:t>
            </a:r>
            <a:r>
              <a:rPr lang="en-US" sz="1800" b="1" dirty="0"/>
              <a:t> </a:t>
            </a:r>
            <a:r>
              <a:rPr lang="en-US" sz="1800" b="1" dirty="0" err="1"/>
              <a:t>Joustra</a:t>
            </a:r>
            <a:endParaRPr lang="en-US" sz="1800" b="1" dirty="0"/>
          </a:p>
          <a:p>
            <a:r>
              <a:rPr lang="en-US" sz="1800" dirty="0"/>
              <a:t>APPROACH:</a:t>
            </a:r>
          </a:p>
          <a:p>
            <a:pPr lvl="1"/>
            <a:r>
              <a:rPr lang="en-US" sz="1600" dirty="0"/>
              <a:t>Categorical prediction (W-D-L)</a:t>
            </a:r>
          </a:p>
          <a:p>
            <a:pPr lvl="1"/>
            <a:r>
              <a:rPr lang="en-US" sz="1600" dirty="0"/>
              <a:t>Not Cross-Validation</a:t>
            </a:r>
          </a:p>
          <a:p>
            <a:pPr lvl="2"/>
            <a:r>
              <a:rPr lang="en-US" sz="1200" dirty="0"/>
              <a:t>2000-2007 training</a:t>
            </a:r>
          </a:p>
          <a:p>
            <a:pPr lvl="2"/>
            <a:r>
              <a:rPr lang="en-US" sz="1200" dirty="0"/>
              <a:t>2007-2013 evaluation (adding </a:t>
            </a:r>
            <a:r>
              <a:rPr lang="en-US" sz="1200" dirty="0" err="1"/>
              <a:t>prev</a:t>
            </a:r>
            <a:r>
              <a:rPr lang="en-US" sz="1200" dirty="0"/>
              <a:t> matches to training)</a:t>
            </a:r>
          </a:p>
          <a:p>
            <a:pPr lvl="1"/>
            <a:r>
              <a:rPr lang="en-US" sz="1600" dirty="0" err="1"/>
              <a:t>McNemar’s</a:t>
            </a:r>
            <a:r>
              <a:rPr lang="en-US" sz="1600" dirty="0"/>
              <a:t> test (0,05 significance level): test </a:t>
            </a:r>
            <a:r>
              <a:rPr lang="en-US" sz="1600" dirty="0" err="1"/>
              <a:t>wether</a:t>
            </a:r>
            <a:r>
              <a:rPr lang="en-US" sz="1600" dirty="0"/>
              <a:t> the model outperforms or not</a:t>
            </a:r>
          </a:p>
          <a:p>
            <a:pPr lvl="1"/>
            <a:r>
              <a:rPr lang="es-ES" sz="1600" dirty="0" err="1"/>
              <a:t>Statistical</a:t>
            </a:r>
            <a:r>
              <a:rPr lang="es-ES" sz="1600" dirty="0"/>
              <a:t> </a:t>
            </a:r>
            <a:r>
              <a:rPr lang="es-ES" sz="1600" dirty="0" err="1"/>
              <a:t>differences</a:t>
            </a:r>
            <a:r>
              <a:rPr lang="es-ES" sz="1600" dirty="0"/>
              <a:t> </a:t>
            </a:r>
            <a:r>
              <a:rPr lang="es-ES" sz="1600" dirty="0" err="1"/>
              <a:t>between</a:t>
            </a:r>
            <a:r>
              <a:rPr lang="es-ES" sz="1600" dirty="0"/>
              <a:t> leagues</a:t>
            </a:r>
          </a:p>
          <a:p>
            <a:pPr lvl="2"/>
            <a:r>
              <a:rPr lang="es-ES" sz="1200" dirty="0"/>
              <a:t>Home </a:t>
            </a:r>
            <a:r>
              <a:rPr lang="es-ES" sz="1200" dirty="0" err="1"/>
              <a:t>Advantage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</a:t>
            </a:r>
            <a:r>
              <a:rPr lang="es-ES" sz="1200" dirty="0" err="1"/>
              <a:t>manage</a:t>
            </a:r>
            <a:r>
              <a:rPr lang="es-ES" sz="1200" dirty="0"/>
              <a:t> </a:t>
            </a:r>
            <a:r>
              <a:rPr lang="es-ES" sz="1200" dirty="0" err="1"/>
              <a:t>hiring</a:t>
            </a:r>
            <a:endParaRPr lang="es-ES" sz="1200" dirty="0"/>
          </a:p>
          <a:p>
            <a:pPr lvl="2"/>
            <a:r>
              <a:rPr lang="es-ES" sz="1200" dirty="0" err="1"/>
              <a:t>that’s</a:t>
            </a:r>
            <a:r>
              <a:rPr lang="es-ES" sz="1200" dirty="0"/>
              <a:t> </a:t>
            </a:r>
            <a:r>
              <a:rPr lang="es-ES" sz="1200" dirty="0" err="1"/>
              <a:t>why</a:t>
            </a:r>
            <a:r>
              <a:rPr lang="es-ES" sz="1200" dirty="0"/>
              <a:t> </a:t>
            </a:r>
            <a:r>
              <a:rPr lang="es-ES" sz="1200" dirty="0" err="1"/>
              <a:t>only</a:t>
            </a:r>
            <a:r>
              <a:rPr lang="es-ES" sz="1200" dirty="0"/>
              <a:t> Dutch league</a:t>
            </a:r>
          </a:p>
          <a:p>
            <a:r>
              <a:rPr lang="es-ES" sz="2000" dirty="0"/>
              <a:t>DIM RED:</a:t>
            </a:r>
          </a:p>
          <a:p>
            <a:pPr lvl="1"/>
            <a:r>
              <a:rPr lang="es-ES" sz="1600" dirty="0"/>
              <a:t>PCA, </a:t>
            </a:r>
            <a:r>
              <a:rPr lang="es-ES" sz="1600" dirty="0" err="1"/>
              <a:t>Squential</a:t>
            </a:r>
            <a:r>
              <a:rPr lang="es-ES" sz="1600" dirty="0"/>
              <a:t> Forward </a:t>
            </a:r>
            <a:r>
              <a:rPr lang="es-ES" sz="1600" dirty="0" err="1"/>
              <a:t>Selection</a:t>
            </a:r>
            <a:r>
              <a:rPr lang="es-ES" sz="1600" dirty="0"/>
              <a:t>, </a:t>
            </a:r>
            <a:r>
              <a:rPr lang="es-ES" sz="1600" dirty="0" err="1"/>
              <a:t>ReliefF</a:t>
            </a:r>
            <a:endParaRPr lang="es-ES" sz="1600" dirty="0"/>
          </a:p>
          <a:p>
            <a:pPr lvl="1"/>
            <a:endParaRPr lang="es-ES" sz="1600" dirty="0"/>
          </a:p>
          <a:p>
            <a:pPr lvl="1"/>
            <a:endParaRPr lang="es-ES" sz="1600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7F62CF38-DA20-9593-5033-9A064A469EE1}"/>
              </a:ext>
            </a:extLst>
          </p:cNvPr>
          <p:cNvSpPr txBox="1">
            <a:spLocks/>
          </p:cNvSpPr>
          <p:nvPr/>
        </p:nvSpPr>
        <p:spPr>
          <a:xfrm>
            <a:off x="6236617" y="2870461"/>
            <a:ext cx="5257800" cy="2130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/>
              <a:t>DATA RETRIEVAL:</a:t>
            </a:r>
          </a:p>
          <a:p>
            <a:pPr lvl="1"/>
            <a:r>
              <a:rPr lang="es-ES" sz="1600" dirty="0" err="1"/>
              <a:t>Odds</a:t>
            </a:r>
            <a:r>
              <a:rPr lang="es-ES" sz="1600" dirty="0"/>
              <a:t>: </a:t>
            </a:r>
            <a:r>
              <a:rPr lang="es-ES" sz="1600" dirty="0">
                <a:hlinkClick r:id="rId2"/>
              </a:rPr>
              <a:t>https://www.football-data.co.uk/</a:t>
            </a:r>
            <a:endParaRPr lang="es-ES" sz="1600" dirty="0"/>
          </a:p>
          <a:p>
            <a:pPr lvl="1"/>
            <a:r>
              <a:rPr lang="es-ES" sz="1600" dirty="0"/>
              <a:t>Coach </a:t>
            </a:r>
            <a:r>
              <a:rPr lang="es-ES" sz="1600" dirty="0" err="1"/>
              <a:t>info</a:t>
            </a:r>
            <a:r>
              <a:rPr lang="es-ES" sz="1600" dirty="0"/>
              <a:t>: </a:t>
            </a:r>
            <a:r>
              <a:rPr lang="es-ES" sz="1600" dirty="0">
                <a:hlinkClick r:id="rId3"/>
              </a:rPr>
              <a:t>https://www.transfermarkt.es/</a:t>
            </a:r>
            <a:endParaRPr lang="es-ES" sz="1600" dirty="0"/>
          </a:p>
          <a:p>
            <a:pPr lvl="1"/>
            <a:r>
              <a:rPr lang="es-ES" sz="1600" dirty="0" err="1"/>
              <a:t>Distance</a:t>
            </a:r>
            <a:r>
              <a:rPr lang="es-ES" sz="1600" dirty="0"/>
              <a:t> </a:t>
            </a:r>
            <a:r>
              <a:rPr lang="es-ES" sz="1600" dirty="0" err="1"/>
              <a:t>between</a:t>
            </a:r>
            <a:r>
              <a:rPr lang="es-ES" sz="1600" dirty="0"/>
              <a:t> </a:t>
            </a:r>
            <a:r>
              <a:rPr lang="es-ES" sz="1600" dirty="0" err="1"/>
              <a:t>teams</a:t>
            </a:r>
            <a:r>
              <a:rPr lang="es-ES" sz="1600" dirty="0"/>
              <a:t>: Google </a:t>
            </a:r>
            <a:r>
              <a:rPr lang="es-ES" sz="1600" dirty="0" err="1"/>
              <a:t>Maps</a:t>
            </a:r>
            <a:endParaRPr lang="es-ES" sz="1600" dirty="0"/>
          </a:p>
          <a:p>
            <a:pPr lvl="1"/>
            <a:r>
              <a:rPr lang="es-ES" sz="1600" dirty="0" err="1"/>
              <a:t>Missing</a:t>
            </a:r>
            <a:r>
              <a:rPr lang="es-ES" sz="1600" dirty="0"/>
              <a:t> </a:t>
            </a:r>
            <a:r>
              <a:rPr lang="es-ES" sz="1600" dirty="0" err="1"/>
              <a:t>players</a:t>
            </a:r>
            <a:r>
              <a:rPr lang="es-ES" sz="1600" dirty="0"/>
              <a:t>: </a:t>
            </a:r>
          </a:p>
          <a:p>
            <a:pPr lvl="2"/>
            <a:r>
              <a:rPr lang="es-ES" sz="1200" dirty="0" err="1"/>
              <a:t>Past</a:t>
            </a:r>
            <a:r>
              <a:rPr lang="es-ES" sz="1200" dirty="0"/>
              <a:t> </a:t>
            </a:r>
            <a:r>
              <a:rPr lang="es-ES" sz="1200" dirty="0" err="1"/>
              <a:t>info</a:t>
            </a:r>
            <a:r>
              <a:rPr lang="es-ES" sz="1200" dirty="0"/>
              <a:t>: </a:t>
            </a:r>
            <a:r>
              <a:rPr lang="es-ES" sz="1200" dirty="0">
                <a:hlinkClick r:id="rId4"/>
              </a:rPr>
              <a:t>https://www.elfvoetbal.nl/</a:t>
            </a:r>
            <a:endParaRPr lang="es-ES" sz="1200" dirty="0"/>
          </a:p>
          <a:p>
            <a:pPr lvl="2"/>
            <a:r>
              <a:rPr lang="es-ES" sz="1200" dirty="0" err="1"/>
              <a:t>Current</a:t>
            </a:r>
            <a:r>
              <a:rPr lang="es-ES" sz="1200" dirty="0"/>
              <a:t> match: </a:t>
            </a:r>
            <a:r>
              <a:rPr lang="es-ES" sz="1200" dirty="0">
                <a:hlinkClick r:id="rId5"/>
              </a:rPr>
              <a:t>https://www.fcupdate.nl/</a:t>
            </a:r>
            <a:endParaRPr lang="es-ES" sz="1600" dirty="0"/>
          </a:p>
          <a:p>
            <a:pPr lvl="1"/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533239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A7D4B-664D-30A7-70FE-1C573591E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The Dutch Football Competition Using Public Data: A Machine Learning Approach (2015)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0F0564-182A-F40B-3324-37A25EB1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DATA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1D02FE-D2E5-B06C-DA17-61A59E573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09" y="2111665"/>
            <a:ext cx="4081028" cy="414071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6027368-4B10-0D29-ED7E-4A0B90C60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280" y="2111665"/>
            <a:ext cx="3510478" cy="105442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9DC7546-44F7-757F-F969-EA855AF4C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624" y="2111665"/>
            <a:ext cx="3568176" cy="109449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CACF364-69FD-43C9-6667-881D2DD68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824" y="3482720"/>
            <a:ext cx="3907800" cy="278643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D84FF6A-6637-8FC1-E679-0AD3938D6C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6624" y="3166094"/>
            <a:ext cx="3728567" cy="366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A7D4B-664D-30A7-70FE-1C573591E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The Dutch Football Competition Using Public Data: A Machine Learning Approach (2015)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0F0564-182A-F40B-3324-37A25EB1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RESULTS PUBLIC DATA MODEL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3C27D76-A90A-0A0A-6600-E9F4E2CFC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02" y="2166520"/>
            <a:ext cx="6176518" cy="24007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3AC44B4-7159-A450-55ED-17BC8CBB1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67" y="4567286"/>
            <a:ext cx="2535066" cy="215185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5547F18-46D9-A3F5-9F5E-14EB4BAC6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683" y="4608893"/>
            <a:ext cx="5395817" cy="214887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87EB520-4798-A05C-8EAD-A3E562F4F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619" y="2102284"/>
            <a:ext cx="3271962" cy="1069345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B33DC35D-63C7-1178-1207-EE16F7349DF5}"/>
              </a:ext>
            </a:extLst>
          </p:cNvPr>
          <p:cNvSpPr txBox="1"/>
          <p:nvPr/>
        </p:nvSpPr>
        <p:spPr>
          <a:xfrm>
            <a:off x="4391194" y="1666994"/>
            <a:ext cx="201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700" b="0" i="0" u="none" strike="noStrike" baseline="0" dirty="0">
                <a:latin typeface="URWPalladioL-Roma"/>
              </a:rPr>
              <a:t>The training process of the Multilayer</a:t>
            </a:r>
          </a:p>
          <a:p>
            <a:pPr algn="l"/>
            <a:r>
              <a:rPr lang="en-US" sz="700" b="0" i="0" u="none" strike="noStrike" baseline="0" dirty="0">
                <a:latin typeface="URWPalladioL-Roma"/>
              </a:rPr>
              <a:t>Perceptron takes a lot of time for each match,</a:t>
            </a:r>
          </a:p>
          <a:p>
            <a:pPr algn="l"/>
            <a:r>
              <a:rPr lang="en-US" sz="700" b="0" i="0" u="none" strike="noStrike" baseline="0" dirty="0">
                <a:latin typeface="URWPalladioL-Roma"/>
              </a:rPr>
              <a:t>therefore we have retrained to classifier once per</a:t>
            </a:r>
          </a:p>
          <a:p>
            <a:pPr algn="l"/>
            <a:r>
              <a:rPr lang="en-US" sz="700" b="0" i="0" u="none" strike="noStrike" baseline="0" dirty="0">
                <a:latin typeface="URWPalladioL-Roma"/>
              </a:rPr>
              <a:t>season, once per half season and per 10 matches</a:t>
            </a:r>
            <a:endParaRPr lang="es-ES" sz="7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27984FC-1E34-5393-DD84-95609D859267}"/>
              </a:ext>
            </a:extLst>
          </p:cNvPr>
          <p:cNvSpPr txBox="1"/>
          <p:nvPr/>
        </p:nvSpPr>
        <p:spPr>
          <a:xfrm>
            <a:off x="8870110" y="4028677"/>
            <a:ext cx="29719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err="1"/>
              <a:t>McNemar’s</a:t>
            </a:r>
            <a:r>
              <a:rPr lang="es-ES" sz="1600" dirty="0"/>
              <a:t> test: No </a:t>
            </a:r>
            <a:r>
              <a:rPr lang="es-ES" sz="1600" dirty="0" err="1"/>
              <a:t>statistically</a:t>
            </a:r>
            <a:r>
              <a:rPr lang="es-ES" sz="1600" dirty="0"/>
              <a:t> </a:t>
            </a:r>
            <a:r>
              <a:rPr lang="es-ES" sz="1600" dirty="0" err="1"/>
              <a:t>difference</a:t>
            </a:r>
            <a:r>
              <a:rPr lang="es-ES" sz="1600" dirty="0"/>
              <a:t> </a:t>
            </a:r>
            <a:r>
              <a:rPr lang="es-ES" sz="1600" dirty="0" err="1"/>
              <a:t>between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performance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public</a:t>
            </a:r>
            <a:r>
              <a:rPr lang="es-ES" sz="1600" dirty="0"/>
              <a:t> data </a:t>
            </a:r>
            <a:r>
              <a:rPr lang="es-ES" sz="1600" dirty="0" err="1"/>
              <a:t>model</a:t>
            </a:r>
            <a:r>
              <a:rPr lang="es-ES" sz="1600" dirty="0"/>
              <a:t> and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betting</a:t>
            </a:r>
            <a:r>
              <a:rPr lang="es-ES" sz="1600" dirty="0"/>
              <a:t> </a:t>
            </a:r>
            <a:r>
              <a:rPr lang="es-ES" sz="1600" dirty="0" err="1"/>
              <a:t>one</a:t>
            </a:r>
            <a:r>
              <a:rPr lang="es-E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5605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412A0-C83F-8FA5-CA4B-8E58589D1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Soccer Match Results in the English</a:t>
            </a:r>
            <a:br>
              <a:rPr lang="en-US" dirty="0"/>
            </a:br>
            <a:r>
              <a:rPr lang="en-US" dirty="0"/>
              <a:t>Premier League (2013)</a:t>
            </a:r>
            <a:endParaRPr lang="es-ES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130DB483-682F-4A9A-25E9-6E4E2A2DB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1800" b="1" dirty="0"/>
              <a:t>Ben Ulmer &amp; Matthew Fernandez</a:t>
            </a:r>
          </a:p>
          <a:p>
            <a:r>
              <a:rPr lang="en-US" sz="1800" dirty="0"/>
              <a:t>APPROACH:</a:t>
            </a:r>
          </a:p>
          <a:p>
            <a:pPr lvl="1"/>
            <a:r>
              <a:rPr lang="en-US" sz="1600" dirty="0"/>
              <a:t>Under-predicted draws:</a:t>
            </a:r>
          </a:p>
          <a:p>
            <a:pPr lvl="2"/>
            <a:r>
              <a:rPr lang="en-US" sz="1200" dirty="0"/>
              <a:t>Attempted to weight draws</a:t>
            </a:r>
          </a:p>
          <a:p>
            <a:pPr lvl="2"/>
            <a:r>
              <a:rPr lang="en-US" sz="1200" dirty="0"/>
              <a:t>Detrimental accuracy in general accuracy</a:t>
            </a:r>
          </a:p>
          <a:p>
            <a:pPr lvl="1"/>
            <a:r>
              <a:rPr lang="en-US" sz="1800" dirty="0"/>
              <a:t>One-vs-All Stochastic Gradient Descend</a:t>
            </a:r>
          </a:p>
          <a:p>
            <a:r>
              <a:rPr lang="es-ES" sz="2000" dirty="0"/>
              <a:t>DATA:</a:t>
            </a:r>
          </a:p>
          <a:p>
            <a:pPr lvl="1"/>
            <a:r>
              <a:rPr lang="es-ES" sz="1600" dirty="0"/>
              <a:t>10 </a:t>
            </a:r>
            <a:r>
              <a:rPr lang="es-ES" sz="1600" dirty="0" err="1"/>
              <a:t>seasons</a:t>
            </a:r>
            <a:r>
              <a:rPr lang="es-ES" sz="1600" dirty="0"/>
              <a:t> Premier League: </a:t>
            </a:r>
          </a:p>
          <a:p>
            <a:pPr lvl="2"/>
            <a:r>
              <a:rPr lang="es-ES" sz="1200" dirty="0"/>
              <a:t>Training: 2002-2012 (3800 </a:t>
            </a:r>
            <a:r>
              <a:rPr lang="es-ES" sz="1200" dirty="0" err="1"/>
              <a:t>games</a:t>
            </a:r>
            <a:r>
              <a:rPr lang="es-ES" sz="1200" dirty="0"/>
              <a:t>)</a:t>
            </a:r>
          </a:p>
          <a:p>
            <a:pPr lvl="2"/>
            <a:r>
              <a:rPr lang="es-ES" sz="1200" dirty="0"/>
              <a:t>Test: 2012-2013 &amp; 2013-2014 (760 </a:t>
            </a:r>
            <a:r>
              <a:rPr lang="es-ES" sz="1200" dirty="0" err="1"/>
              <a:t>games</a:t>
            </a:r>
            <a:r>
              <a:rPr lang="es-ES" sz="1200" dirty="0"/>
              <a:t>)</a:t>
            </a:r>
          </a:p>
          <a:p>
            <a:pPr lvl="1"/>
            <a:r>
              <a:rPr lang="es-ES" sz="1600" dirty="0" err="1"/>
              <a:t>Steaks</a:t>
            </a:r>
            <a:r>
              <a:rPr lang="es-ES" sz="1600" dirty="0"/>
              <a:t>: </a:t>
            </a:r>
            <a:r>
              <a:rPr lang="es-ES" sz="1600" dirty="0" err="1"/>
              <a:t>ignoring</a:t>
            </a:r>
            <a:r>
              <a:rPr lang="es-ES" sz="1600" dirty="0"/>
              <a:t> </a:t>
            </a:r>
            <a:r>
              <a:rPr lang="es-ES" sz="1600" dirty="0" err="1"/>
              <a:t>first</a:t>
            </a:r>
            <a:r>
              <a:rPr lang="es-ES" sz="1600" dirty="0"/>
              <a:t> </a:t>
            </a:r>
            <a:r>
              <a:rPr lang="es-ES" sz="1600" i="1" dirty="0"/>
              <a:t>n</a:t>
            </a:r>
            <a:r>
              <a:rPr lang="es-ES" sz="1600" dirty="0"/>
              <a:t> </a:t>
            </a:r>
            <a:r>
              <a:rPr lang="es-ES" sz="1600" dirty="0" err="1"/>
              <a:t>games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season</a:t>
            </a:r>
            <a:r>
              <a:rPr lang="es-ES" sz="1600" dirty="0"/>
              <a:t>.</a:t>
            </a:r>
          </a:p>
          <a:p>
            <a:pPr lvl="2"/>
            <a:r>
              <a:rPr lang="es-ES" sz="1200" i="1" dirty="0"/>
              <a:t>n = 4 and 7</a:t>
            </a:r>
          </a:p>
          <a:p>
            <a:pPr lvl="1"/>
            <a:r>
              <a:rPr lang="es-ES" sz="1600" dirty="0" err="1"/>
              <a:t>Features</a:t>
            </a:r>
            <a:r>
              <a:rPr lang="es-ES" sz="1600" dirty="0"/>
              <a:t>:</a:t>
            </a:r>
          </a:p>
          <a:p>
            <a:pPr lvl="2"/>
            <a:r>
              <a:rPr lang="es-ES" sz="1200" dirty="0" err="1"/>
              <a:t>Team</a:t>
            </a:r>
            <a:r>
              <a:rPr lang="es-ES" sz="1200" dirty="0"/>
              <a:t> id, score, </a:t>
            </a:r>
            <a:r>
              <a:rPr lang="es-ES" sz="1200" dirty="0" err="1"/>
              <a:t>winner</a:t>
            </a:r>
            <a:r>
              <a:rPr lang="es-ES" sz="1200" dirty="0"/>
              <a:t>, </a:t>
            </a:r>
            <a:r>
              <a:rPr lang="es-ES" sz="1200" dirty="0" err="1"/>
              <a:t>goals</a:t>
            </a:r>
            <a:r>
              <a:rPr lang="es-ES" sz="1200" dirty="0"/>
              <a:t>.</a:t>
            </a:r>
          </a:p>
          <a:p>
            <a:pPr lvl="1"/>
            <a:endParaRPr lang="es-ES" sz="1600" dirty="0"/>
          </a:p>
          <a:p>
            <a:pPr lvl="1"/>
            <a:endParaRPr lang="es-ES" sz="1600" i="1" dirty="0"/>
          </a:p>
          <a:p>
            <a:pPr lvl="1"/>
            <a:endParaRPr lang="es-ES" sz="1600" dirty="0"/>
          </a:p>
          <a:p>
            <a:pPr lvl="2"/>
            <a:endParaRPr lang="es-ES" sz="1200" dirty="0"/>
          </a:p>
          <a:p>
            <a:pPr lvl="2"/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FFDD5E5-87FE-B9D5-964D-1C39892A7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484" y="2473113"/>
            <a:ext cx="4288461" cy="225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59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2F7B4-6F55-D060-01A5-C8AFA7E0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Soccer result prediction using deep</a:t>
            </a:r>
            <a:br>
              <a:rPr lang="en-US" dirty="0"/>
            </a:br>
            <a:r>
              <a:rPr lang="en-US" dirty="0"/>
              <a:t>learning and neural networks. (2021)</a:t>
            </a:r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11E51F3-7F00-DDE7-8407-8DC7BB5E9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s-ES" sz="1800" b="1" dirty="0" err="1"/>
              <a:t>Sarika</a:t>
            </a:r>
            <a:r>
              <a:rPr lang="es-ES" sz="1800" b="1" dirty="0"/>
              <a:t> </a:t>
            </a:r>
            <a:r>
              <a:rPr lang="sv-SE" sz="1800" b="1" dirty="0"/>
              <a:t>Jain, Ekansh Tiwari and Prasanjit Sardar</a:t>
            </a:r>
            <a:endParaRPr lang="en-US" sz="1800" b="1" dirty="0"/>
          </a:p>
          <a:p>
            <a:r>
              <a:rPr lang="en-US" sz="1800" dirty="0"/>
              <a:t>APPROACH:</a:t>
            </a:r>
          </a:p>
          <a:p>
            <a:pPr lvl="1"/>
            <a:r>
              <a:rPr lang="en-US" sz="1600" dirty="0"/>
              <a:t>RNN LSTMs</a:t>
            </a:r>
            <a:endParaRPr lang="en-US" sz="1600" b="1" dirty="0"/>
          </a:p>
          <a:p>
            <a:pPr lvl="1"/>
            <a:r>
              <a:rPr lang="en-US" sz="1600" dirty="0"/>
              <a:t>2 classes prediction </a:t>
            </a:r>
            <a:r>
              <a:rPr lang="en-US" sz="1600" b="1" dirty="0"/>
              <a:t>(80%)</a:t>
            </a:r>
            <a:endParaRPr lang="en-US" sz="1600" dirty="0"/>
          </a:p>
          <a:p>
            <a:r>
              <a:rPr lang="es-ES" sz="1800" dirty="0"/>
              <a:t>DATA</a:t>
            </a:r>
            <a:r>
              <a:rPr lang="es-ES" sz="2000" dirty="0"/>
              <a:t>:</a:t>
            </a:r>
          </a:p>
          <a:p>
            <a:pPr lvl="1"/>
            <a:r>
              <a:rPr lang="es-ES" sz="1600" dirty="0">
                <a:hlinkClick r:id="rId2"/>
              </a:rPr>
              <a:t>https://www.football-data.co.uk/</a:t>
            </a:r>
            <a:endParaRPr lang="es-ES" sz="1600" dirty="0"/>
          </a:p>
          <a:p>
            <a:pPr lvl="1"/>
            <a:r>
              <a:rPr lang="es-ES" sz="1600" dirty="0"/>
              <a:t>8 </a:t>
            </a:r>
            <a:r>
              <a:rPr lang="es-ES" sz="1600" dirty="0" err="1"/>
              <a:t>seasons</a:t>
            </a:r>
            <a:r>
              <a:rPr lang="es-ES" sz="1600" dirty="0"/>
              <a:t> Premier League (2010-2018) </a:t>
            </a:r>
          </a:p>
          <a:p>
            <a:pPr lvl="1"/>
            <a:r>
              <a:rPr lang="es-ES" sz="1600" dirty="0" err="1"/>
              <a:t>Features</a:t>
            </a:r>
            <a:r>
              <a:rPr lang="es-ES" sz="1600" dirty="0"/>
              <a:t> </a:t>
            </a:r>
            <a:r>
              <a:rPr lang="es-ES" sz="1600" dirty="0" err="1"/>
              <a:t>calculated</a:t>
            </a:r>
            <a:r>
              <a:rPr lang="es-ES" sz="1600" dirty="0"/>
              <a:t> </a:t>
            </a:r>
            <a:r>
              <a:rPr lang="es-ES" sz="1600" dirty="0" err="1"/>
              <a:t>by</a:t>
            </a:r>
            <a:r>
              <a:rPr lang="es-ES" sz="1600" dirty="0"/>
              <a:t> </a:t>
            </a:r>
            <a:r>
              <a:rPr lang="es-ES" sz="1600" dirty="0" err="1"/>
              <a:t>summing</a:t>
            </a:r>
            <a:r>
              <a:rPr lang="es-ES" sz="1600" dirty="0"/>
              <a:t> </a:t>
            </a:r>
            <a:r>
              <a:rPr lang="es-ES" sz="1600" dirty="0" err="1"/>
              <a:t>over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attributes</a:t>
            </a:r>
            <a:r>
              <a:rPr lang="es-ES" sz="1600" dirty="0"/>
              <a:t> </a:t>
            </a:r>
            <a:r>
              <a:rPr lang="es-ES" sz="1600" dirty="0" err="1"/>
              <a:t>through</a:t>
            </a:r>
            <a:r>
              <a:rPr lang="es-ES" sz="1600" dirty="0"/>
              <a:t> </a:t>
            </a:r>
            <a:r>
              <a:rPr lang="es-ES" sz="1600" dirty="0" err="1"/>
              <a:t>all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rows</a:t>
            </a:r>
            <a:r>
              <a:rPr lang="es-ES" sz="1600" dirty="0"/>
              <a:t>.</a:t>
            </a:r>
          </a:p>
          <a:p>
            <a:pPr lvl="1"/>
            <a:r>
              <a:rPr lang="es-ES" sz="1600" dirty="0" err="1"/>
              <a:t>Streaks</a:t>
            </a:r>
            <a:r>
              <a:rPr lang="es-ES" sz="1600" dirty="0"/>
              <a:t> </a:t>
            </a:r>
            <a:r>
              <a:rPr lang="es-ES" sz="1600" dirty="0" err="1"/>
              <a:t>computed</a:t>
            </a:r>
            <a:r>
              <a:rPr lang="es-ES" sz="1600" dirty="0"/>
              <a:t> </a:t>
            </a:r>
            <a:r>
              <a:rPr lang="es-ES" sz="1600" dirty="0" err="1"/>
              <a:t>with</a:t>
            </a:r>
            <a:r>
              <a:rPr lang="es-ES" sz="1600" dirty="0"/>
              <a:t> </a:t>
            </a:r>
            <a:r>
              <a:rPr lang="es-ES" sz="1600" dirty="0" err="1"/>
              <a:t>One</a:t>
            </a:r>
            <a:r>
              <a:rPr lang="es-ES" sz="1600" dirty="0"/>
              <a:t> </a:t>
            </a:r>
            <a:r>
              <a:rPr lang="es-ES" sz="1600" dirty="0" err="1"/>
              <a:t>hot</a:t>
            </a:r>
            <a:r>
              <a:rPr lang="es-ES" sz="1600" dirty="0"/>
              <a:t> </a:t>
            </a:r>
            <a:r>
              <a:rPr lang="es-ES" sz="1600" dirty="0" err="1"/>
              <a:t>encoding</a:t>
            </a:r>
            <a:endParaRPr lang="es-ES" sz="1600" dirty="0"/>
          </a:p>
          <a:p>
            <a:pPr lvl="1"/>
            <a:endParaRPr lang="es-ES" sz="1600" dirty="0"/>
          </a:p>
          <a:p>
            <a:pPr lvl="1"/>
            <a:endParaRPr lang="es-ES" sz="1600" dirty="0"/>
          </a:p>
          <a:p>
            <a:pPr lvl="1"/>
            <a:endParaRPr lang="es-ES" sz="1600" i="1" dirty="0"/>
          </a:p>
          <a:p>
            <a:pPr lvl="1"/>
            <a:endParaRPr lang="es-ES" sz="1600" dirty="0"/>
          </a:p>
          <a:p>
            <a:pPr lvl="2"/>
            <a:endParaRPr lang="es-ES" sz="1200" dirty="0"/>
          </a:p>
          <a:p>
            <a:pPr lvl="2"/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1AD1CD2-C0DD-EB04-E34F-119A9A4E4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478" y="1690688"/>
            <a:ext cx="5373047" cy="33496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6EBBB8D-2D41-9689-747B-FCEE358F0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195" y="5020658"/>
            <a:ext cx="4758746" cy="122273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5BBC1B8-D01C-9818-A004-7DA54F1FD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609" y="4828147"/>
            <a:ext cx="3717674" cy="143465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D99A53C-32BB-BF3B-38B3-1B0A167C66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307" y="6225906"/>
            <a:ext cx="3588278" cy="66135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7A005D7-C79D-1E0E-55DE-FAA8942080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200" y="6262805"/>
            <a:ext cx="4792624" cy="46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583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A1144-0EC7-633E-EE99-FD46D8FA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deep learning approach to predict</a:t>
            </a:r>
            <a:br>
              <a:rPr lang="en-US" dirty="0"/>
            </a:br>
            <a:r>
              <a:rPr lang="en-US" dirty="0"/>
              <a:t>football match result (2020)</a:t>
            </a:r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751E0A3-094D-86C1-78D7-2140A7827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s-ES" sz="1800" b="1" dirty="0" err="1"/>
              <a:t>Sarika</a:t>
            </a:r>
            <a:r>
              <a:rPr lang="es-ES" sz="1800" b="1" dirty="0"/>
              <a:t> </a:t>
            </a:r>
            <a:r>
              <a:rPr lang="sv-SE" sz="1800" b="1" dirty="0"/>
              <a:t>Jain, Ekansh Tiwari and Prasanjit Sardar</a:t>
            </a:r>
            <a:endParaRPr lang="en-US" sz="1800" b="1" dirty="0"/>
          </a:p>
          <a:p>
            <a:r>
              <a:rPr lang="en-US" sz="1800" dirty="0"/>
              <a:t>APPROACH:</a:t>
            </a:r>
          </a:p>
          <a:p>
            <a:pPr lvl="1"/>
            <a:r>
              <a:rPr lang="en-US" sz="1800" dirty="0"/>
              <a:t>MLP w/ 2 classes prediction </a:t>
            </a:r>
            <a:r>
              <a:rPr lang="en-US" sz="1800" b="1" dirty="0"/>
              <a:t>(73.6%)</a:t>
            </a:r>
          </a:p>
          <a:p>
            <a:pPr lvl="1"/>
            <a:r>
              <a:rPr lang="en-US" sz="1800" dirty="0"/>
              <a:t>Mention Ulmer and </a:t>
            </a:r>
            <a:r>
              <a:rPr lang="en-US" sz="1800" dirty="0" err="1"/>
              <a:t>Joustra</a:t>
            </a:r>
            <a:r>
              <a:rPr lang="en-US" sz="1800" dirty="0"/>
              <a:t> works</a:t>
            </a:r>
          </a:p>
          <a:p>
            <a:r>
              <a:rPr lang="es-ES" sz="2000" dirty="0"/>
              <a:t>DATA:</a:t>
            </a:r>
          </a:p>
          <a:p>
            <a:pPr lvl="1"/>
            <a:r>
              <a:rPr lang="es-ES" sz="1600" dirty="0"/>
              <a:t>16 </a:t>
            </a:r>
            <a:r>
              <a:rPr lang="es-ES" sz="1600" dirty="0" err="1"/>
              <a:t>seasons</a:t>
            </a:r>
            <a:r>
              <a:rPr lang="es-ES" sz="1600" dirty="0"/>
              <a:t> Premier League (2000-2016) </a:t>
            </a:r>
          </a:p>
          <a:p>
            <a:pPr lvl="1"/>
            <a:endParaRPr lang="es-ES" sz="1600" dirty="0"/>
          </a:p>
          <a:p>
            <a:pPr lvl="1"/>
            <a:endParaRPr lang="es-ES" sz="1600" i="1" dirty="0"/>
          </a:p>
          <a:p>
            <a:pPr lvl="1"/>
            <a:endParaRPr lang="es-ES" sz="1600" dirty="0"/>
          </a:p>
          <a:p>
            <a:pPr lvl="2"/>
            <a:endParaRPr lang="es-ES" sz="1200" dirty="0"/>
          </a:p>
          <a:p>
            <a:pPr lvl="2"/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8C7A7B-7B2F-C901-FED7-1DC0119FB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641" y="2070267"/>
            <a:ext cx="5983850" cy="7667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EAD3DCC-5AD8-0F60-6DF9-F4FF208F5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844" y="2836976"/>
            <a:ext cx="2016212" cy="92764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2F1CC04-6D1E-E803-D271-0D02EF967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465" y="2801053"/>
            <a:ext cx="4266799" cy="11214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18C51E6-E215-BA01-BB30-A03D2A4DC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3" y="4178723"/>
            <a:ext cx="4833871" cy="261328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C32F3AA-81DB-2B83-9C88-1DFE0DCCE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3364" y="4001294"/>
            <a:ext cx="3921143" cy="87399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60B54DA-2ACD-EBC4-4C74-0F7678C92B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8231" y="4915871"/>
            <a:ext cx="3599571" cy="187614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378CA44-9804-F1ED-E2BB-FCC2C1B638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2669" y="4837338"/>
            <a:ext cx="3551933" cy="140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52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A1144-0EC7-633E-EE99-FD46D8FA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deep learning approach to predict</a:t>
            </a:r>
            <a:br>
              <a:rPr lang="en-US" dirty="0"/>
            </a:br>
            <a:r>
              <a:rPr lang="en-US" dirty="0"/>
              <a:t>football match result (2020)</a:t>
            </a:r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751E0A3-094D-86C1-78D7-2140A7827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7605"/>
            <a:ext cx="5257800" cy="2242041"/>
          </a:xfrm>
        </p:spPr>
        <p:txBody>
          <a:bodyPr>
            <a:normAutofit/>
          </a:bodyPr>
          <a:lstStyle/>
          <a:p>
            <a:r>
              <a:rPr lang="en-US" sz="1800" dirty="0"/>
              <a:t>RESULTS:</a:t>
            </a:r>
          </a:p>
          <a:p>
            <a:pPr lvl="1"/>
            <a:r>
              <a:rPr lang="es-ES" sz="1600" dirty="0"/>
              <a:t>MLP 10 </a:t>
            </a:r>
            <a:r>
              <a:rPr lang="es-ES" sz="1600" dirty="0" err="1"/>
              <a:t>hidden</a:t>
            </a:r>
            <a:r>
              <a:rPr lang="es-ES" sz="1600" dirty="0"/>
              <a:t> </a:t>
            </a:r>
            <a:r>
              <a:rPr lang="es-ES" sz="1600" dirty="0" err="1"/>
              <a:t>states</a:t>
            </a:r>
            <a:endParaRPr lang="es-ES" sz="1600" dirty="0"/>
          </a:p>
          <a:p>
            <a:pPr lvl="1"/>
            <a:r>
              <a:rPr lang="es-ES" sz="1600" dirty="0"/>
              <a:t>70% training - 30% test</a:t>
            </a:r>
          </a:p>
          <a:p>
            <a:r>
              <a:rPr lang="es-ES" sz="2000" dirty="0"/>
              <a:t>ERROR ANALYSIS</a:t>
            </a:r>
          </a:p>
          <a:p>
            <a:pPr lvl="1"/>
            <a:r>
              <a:rPr lang="es-ES" sz="1600" dirty="0" err="1"/>
              <a:t>Only</a:t>
            </a:r>
            <a:r>
              <a:rPr lang="es-ES" sz="1600" dirty="0"/>
              <a:t> </a:t>
            </a:r>
            <a:r>
              <a:rPr lang="es-ES" sz="1600" dirty="0" err="1"/>
              <a:t>features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starting</a:t>
            </a:r>
            <a:r>
              <a:rPr lang="es-ES" sz="1600" dirty="0"/>
              <a:t> </a:t>
            </a:r>
            <a:r>
              <a:rPr lang="es-ES" sz="1600" dirty="0" err="1"/>
              <a:t>lineup</a:t>
            </a:r>
            <a:r>
              <a:rPr lang="es-ES" sz="1600" dirty="0"/>
              <a:t> (11 </a:t>
            </a:r>
            <a:r>
              <a:rPr lang="es-ES" sz="1600" dirty="0" err="1"/>
              <a:t>players</a:t>
            </a:r>
            <a:r>
              <a:rPr lang="es-ES" sz="1600" dirty="0"/>
              <a:t>)</a:t>
            </a:r>
          </a:p>
          <a:p>
            <a:pPr lvl="1"/>
            <a:r>
              <a:rPr lang="es-ES" sz="1600" dirty="0" err="1"/>
              <a:t>Missing</a:t>
            </a:r>
            <a:r>
              <a:rPr lang="es-ES" sz="1600" dirty="0"/>
              <a:t> </a:t>
            </a:r>
            <a:r>
              <a:rPr lang="es-ES" sz="1600" dirty="0" err="1"/>
              <a:t>features</a:t>
            </a:r>
            <a:r>
              <a:rPr lang="es-ES" sz="1600" dirty="0"/>
              <a:t> (</a:t>
            </a:r>
            <a:r>
              <a:rPr lang="es-ES" sz="1600" dirty="0" err="1"/>
              <a:t>stadium</a:t>
            </a:r>
            <a:r>
              <a:rPr lang="es-ES" sz="1600" dirty="0"/>
              <a:t> </a:t>
            </a:r>
            <a:r>
              <a:rPr lang="es-ES" sz="1600" dirty="0" err="1"/>
              <a:t>attendance</a:t>
            </a:r>
            <a:r>
              <a:rPr lang="es-ES" sz="1600" dirty="0"/>
              <a:t>, </a:t>
            </a:r>
            <a:r>
              <a:rPr lang="es-ES" sz="1600" dirty="0" err="1"/>
              <a:t>referee</a:t>
            </a:r>
            <a:r>
              <a:rPr lang="es-ES" sz="1600" dirty="0"/>
              <a:t>, </a:t>
            </a:r>
            <a:r>
              <a:rPr lang="es-ES" sz="1600" dirty="0" err="1"/>
              <a:t>weather</a:t>
            </a:r>
            <a:r>
              <a:rPr lang="es-ES" sz="1600" dirty="0"/>
              <a:t>…)</a:t>
            </a:r>
          </a:p>
          <a:p>
            <a:pPr lvl="1"/>
            <a:endParaRPr lang="es-ES" sz="1600" i="1" dirty="0"/>
          </a:p>
          <a:p>
            <a:pPr lvl="1"/>
            <a:endParaRPr lang="es-ES" sz="1600" dirty="0"/>
          </a:p>
          <a:p>
            <a:pPr lvl="2"/>
            <a:endParaRPr lang="es-ES" sz="1200" dirty="0"/>
          </a:p>
          <a:p>
            <a:pPr lvl="2"/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81E072-1B49-BEFD-C774-D05C96FFC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887" y="2597619"/>
            <a:ext cx="5540783" cy="228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73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DC114-5EBE-A568-DEC4-9BDFC21DC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Deep Learning Framework for Football Match Prediction (2022)</a:t>
            </a:r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74BC49F-FAD5-B78A-395F-AA239952E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1236"/>
            <a:ext cx="5174673" cy="4211782"/>
          </a:xfrm>
        </p:spPr>
        <p:txBody>
          <a:bodyPr>
            <a:normAutofit/>
          </a:bodyPr>
          <a:lstStyle/>
          <a:p>
            <a:r>
              <a:rPr lang="en-US" sz="1800" b="1" dirty="0"/>
              <a:t>S.K. </a:t>
            </a:r>
            <a:r>
              <a:rPr lang="en-US" sz="1800" b="1" dirty="0" err="1"/>
              <a:t>Nivetha</a:t>
            </a:r>
            <a:r>
              <a:rPr lang="en-US" sz="1800" b="1" dirty="0"/>
              <a:t>; M. Geetha; R.C. </a:t>
            </a:r>
            <a:r>
              <a:rPr lang="en-US" sz="1800" b="1" dirty="0" err="1"/>
              <a:t>Suganthe</a:t>
            </a:r>
            <a:r>
              <a:rPr lang="en-US" sz="1800" b="1" dirty="0"/>
              <a:t>; R Manoj </a:t>
            </a:r>
            <a:r>
              <a:rPr lang="en-US" sz="1800" b="1" dirty="0" err="1"/>
              <a:t>Prabakaran</a:t>
            </a:r>
            <a:r>
              <a:rPr lang="en-US" sz="1800" b="1" dirty="0"/>
              <a:t>; S </a:t>
            </a:r>
            <a:r>
              <a:rPr lang="en-US" sz="1800" b="1" dirty="0" err="1"/>
              <a:t>Madhuvanan</a:t>
            </a:r>
            <a:r>
              <a:rPr lang="en-US" sz="1800" b="1" dirty="0"/>
              <a:t>; A Mohamed Sameer</a:t>
            </a:r>
          </a:p>
          <a:p>
            <a:r>
              <a:rPr lang="en-US" sz="2000" dirty="0"/>
              <a:t>APPROACH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LSTM with Batch Normalization</a:t>
            </a:r>
          </a:p>
          <a:p>
            <a:pPr lvl="1"/>
            <a:r>
              <a:rPr lang="en-US" sz="1800" dirty="0"/>
              <a:t>One-vs-All Stochastic Gradient Descend</a:t>
            </a:r>
          </a:p>
          <a:p>
            <a:r>
              <a:rPr lang="es-ES" sz="2000" dirty="0"/>
              <a:t>DATA:</a:t>
            </a:r>
          </a:p>
          <a:p>
            <a:pPr lvl="1"/>
            <a:r>
              <a:rPr lang="es-ES" sz="1800" dirty="0">
                <a:hlinkClick r:id="rId2"/>
              </a:rPr>
              <a:t>https://www.football-data.co.uk/</a:t>
            </a:r>
            <a:endParaRPr lang="es-ES" sz="1800" dirty="0"/>
          </a:p>
          <a:p>
            <a:pPr lvl="1"/>
            <a:r>
              <a:rPr lang="es-ES" sz="1800" dirty="0"/>
              <a:t>Premier League (2009-2015)</a:t>
            </a:r>
          </a:p>
          <a:p>
            <a:pPr lvl="2"/>
            <a:r>
              <a:rPr lang="es-ES" sz="1400" dirty="0"/>
              <a:t>380 </a:t>
            </a:r>
            <a:r>
              <a:rPr lang="es-ES" sz="1400" dirty="0" err="1"/>
              <a:t>matches</a:t>
            </a:r>
            <a:r>
              <a:rPr lang="es-ES" sz="1400" dirty="0"/>
              <a:t> </a:t>
            </a:r>
            <a:r>
              <a:rPr lang="es-ES" sz="1400" dirty="0" err="1"/>
              <a:t>each</a:t>
            </a:r>
            <a:r>
              <a:rPr lang="es-ES" sz="1400" dirty="0"/>
              <a:t> </a:t>
            </a:r>
            <a:r>
              <a:rPr lang="es-ES" sz="1400" dirty="0" err="1"/>
              <a:t>season</a:t>
            </a:r>
            <a:endParaRPr lang="es-ES" sz="1400" dirty="0"/>
          </a:p>
          <a:p>
            <a:pPr lvl="1"/>
            <a:r>
              <a:rPr lang="es-ES" sz="1800" dirty="0"/>
              <a:t>5 partidos anteriores (racha)</a:t>
            </a:r>
          </a:p>
          <a:p>
            <a:pPr lvl="1"/>
            <a:r>
              <a:rPr lang="es-ES" sz="1800" dirty="0"/>
              <a:t>Atributos como:</a:t>
            </a:r>
          </a:p>
          <a:p>
            <a:pPr lvl="2"/>
            <a:r>
              <a:rPr lang="es-ES" sz="1500" dirty="0"/>
              <a:t>Si ha tenido el equipo una racha de 3 o 5 partidos seguidos ganando.</a:t>
            </a:r>
          </a:p>
          <a:p>
            <a:pPr lvl="1"/>
            <a:endParaRPr lang="es-ES" sz="1600" dirty="0"/>
          </a:p>
          <a:p>
            <a:pPr lvl="1"/>
            <a:endParaRPr lang="es-ES" sz="1600" i="1" dirty="0"/>
          </a:p>
          <a:p>
            <a:pPr lvl="1"/>
            <a:endParaRPr lang="es-ES" sz="1600" dirty="0"/>
          </a:p>
          <a:p>
            <a:pPr lvl="2"/>
            <a:endParaRPr lang="es-ES" sz="1200" dirty="0"/>
          </a:p>
          <a:p>
            <a:pPr lvl="2"/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F66BDFE-051B-7776-91BE-6F7CBBD81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296" y="2196833"/>
            <a:ext cx="2860667" cy="30915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4F3860B-9136-2060-BB5D-7944D4661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387" y="1360559"/>
            <a:ext cx="2851161" cy="506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52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DC114-5EBE-A568-DEC4-9BDFC21DC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Deep Learning Framework for Football Match Prediction (2022)</a:t>
            </a:r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74BC49F-FAD5-B78A-395F-AA239952E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1589"/>
            <a:ext cx="5595520" cy="2744137"/>
          </a:xfrm>
        </p:spPr>
        <p:txBody>
          <a:bodyPr>
            <a:normAutofit/>
          </a:bodyPr>
          <a:lstStyle/>
          <a:p>
            <a:r>
              <a:rPr lang="es-ES" sz="2000" dirty="0"/>
              <a:t>EVALUATION</a:t>
            </a:r>
            <a:r>
              <a:rPr lang="es-ES" sz="1800" dirty="0"/>
              <a:t>:</a:t>
            </a:r>
          </a:p>
          <a:p>
            <a:pPr lvl="1"/>
            <a:r>
              <a:rPr lang="es-ES" sz="1800" dirty="0" err="1"/>
              <a:t>Confusion</a:t>
            </a:r>
            <a:r>
              <a:rPr lang="es-ES" sz="1800" dirty="0"/>
              <a:t> </a:t>
            </a:r>
            <a:r>
              <a:rPr lang="es-ES" sz="1800" dirty="0" err="1"/>
              <a:t>matrix</a:t>
            </a:r>
            <a:endParaRPr lang="es-ES" sz="1800" dirty="0"/>
          </a:p>
          <a:p>
            <a:pPr lvl="1"/>
            <a:r>
              <a:rPr lang="es-ES" sz="1800" dirty="0"/>
              <a:t>Precision-Recall-F1 score</a:t>
            </a:r>
          </a:p>
          <a:p>
            <a:pPr lvl="1"/>
            <a:r>
              <a:rPr lang="es-ES" sz="1800" dirty="0" err="1"/>
              <a:t>Support</a:t>
            </a:r>
            <a:endParaRPr lang="es-ES" sz="1800" dirty="0"/>
          </a:p>
          <a:p>
            <a:pPr lvl="1"/>
            <a:r>
              <a:rPr lang="es-ES" sz="1800" dirty="0"/>
              <a:t>Macro </a:t>
            </a:r>
            <a:r>
              <a:rPr lang="es-ES" sz="1800" dirty="0" err="1"/>
              <a:t>average</a:t>
            </a:r>
            <a:r>
              <a:rPr lang="es-ES" sz="1800" dirty="0"/>
              <a:t> &amp; </a:t>
            </a:r>
            <a:r>
              <a:rPr lang="es-ES" sz="1800" dirty="0" err="1"/>
              <a:t>weighted</a:t>
            </a:r>
            <a:r>
              <a:rPr lang="es-ES" sz="1800" dirty="0"/>
              <a:t> </a:t>
            </a:r>
            <a:r>
              <a:rPr lang="es-ES" sz="1800" dirty="0" err="1"/>
              <a:t>average</a:t>
            </a:r>
            <a:endParaRPr lang="es-ES" sz="1800" dirty="0"/>
          </a:p>
          <a:p>
            <a:pPr lvl="2"/>
            <a:r>
              <a:rPr lang="es-ES" sz="1400" dirty="0" err="1"/>
              <a:t>Based</a:t>
            </a:r>
            <a:r>
              <a:rPr lang="es-ES" sz="1400" dirty="0"/>
              <a:t> </a:t>
            </a:r>
            <a:r>
              <a:rPr lang="es-ES" sz="1400" dirty="0" err="1"/>
              <a:t>on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proportion</a:t>
            </a:r>
            <a:r>
              <a:rPr lang="es-ES" sz="1400" dirty="0"/>
              <a:t>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labels</a:t>
            </a:r>
            <a:r>
              <a:rPr lang="es-ES" sz="1400" dirty="0"/>
              <a:t> in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dataset</a:t>
            </a:r>
            <a:r>
              <a:rPr lang="es-ES" sz="1400" dirty="0"/>
              <a:t>.</a:t>
            </a:r>
          </a:p>
          <a:p>
            <a:r>
              <a:rPr lang="es-ES" sz="2000" dirty="0"/>
              <a:t>RESULTS:</a:t>
            </a:r>
          </a:p>
          <a:p>
            <a:pPr lvl="1"/>
            <a:r>
              <a:rPr lang="es-ES" sz="1800" dirty="0" err="1"/>
              <a:t>Win</a:t>
            </a:r>
            <a:r>
              <a:rPr lang="es-ES" sz="1800" dirty="0"/>
              <a:t> (0), </a:t>
            </a:r>
            <a:r>
              <a:rPr lang="es-ES" sz="1800" dirty="0" err="1"/>
              <a:t>Loss</a:t>
            </a:r>
            <a:r>
              <a:rPr lang="es-ES" sz="1800" dirty="0"/>
              <a:t> (1), </a:t>
            </a:r>
            <a:r>
              <a:rPr lang="es-ES" sz="1800" dirty="0" err="1"/>
              <a:t>Draw</a:t>
            </a:r>
            <a:r>
              <a:rPr lang="es-ES" sz="1800" dirty="0"/>
              <a:t> (2)</a:t>
            </a:r>
          </a:p>
          <a:p>
            <a:pPr lvl="1"/>
            <a:endParaRPr lang="es-ES" sz="800" dirty="0"/>
          </a:p>
          <a:p>
            <a:pPr lvl="1"/>
            <a:endParaRPr lang="es-ES" sz="1600" dirty="0"/>
          </a:p>
          <a:p>
            <a:pPr lvl="1"/>
            <a:endParaRPr lang="es-ES" sz="1600" i="1" dirty="0"/>
          </a:p>
          <a:p>
            <a:pPr lvl="1"/>
            <a:endParaRPr lang="es-ES" sz="1600" dirty="0"/>
          </a:p>
          <a:p>
            <a:pPr lvl="2"/>
            <a:endParaRPr lang="es-ES" sz="1200" dirty="0"/>
          </a:p>
          <a:p>
            <a:pPr lvl="2"/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3517C04-ED24-E831-979E-C463EC4D3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725" y="2430536"/>
            <a:ext cx="2284004" cy="80633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6380689-5034-26E1-919E-879F0AD82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623" y="1806286"/>
            <a:ext cx="3645177" cy="21373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D967551-13FD-4D37-E2DA-E1D4C06F0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519" y="4389646"/>
            <a:ext cx="2553383" cy="170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6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F5662-9B60-F017-8E6D-A4562E96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learning for football outcomes prediction based on football rating system (2022)</a:t>
            </a:r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AD3069-8F98-4DBE-B3B1-249EE828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1236"/>
            <a:ext cx="5657491" cy="4211782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APPROACH</a:t>
            </a:r>
            <a:r>
              <a:rPr lang="en-US" sz="1800" dirty="0"/>
              <a:t>:</a:t>
            </a:r>
          </a:p>
          <a:p>
            <a:pPr lvl="1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Accuracy 55,82%</a:t>
            </a:r>
            <a:endParaRPr lang="en-US" sz="1400" dirty="0"/>
          </a:p>
          <a:p>
            <a:pPr lvl="1"/>
            <a:r>
              <a:rPr lang="en-US" sz="1600" dirty="0"/>
              <a:t>Prediction of Win-Draw-Loss.</a:t>
            </a:r>
          </a:p>
          <a:p>
            <a:pPr lvl="1"/>
            <a:r>
              <a:rPr lang="en-US" sz="1600" b="1" dirty="0"/>
              <a:t>Pi-rating system</a:t>
            </a:r>
            <a:r>
              <a:rPr lang="en-US" sz="1600" dirty="0"/>
              <a:t>: </a:t>
            </a:r>
            <a:r>
              <a:rPr lang="en-US" sz="1600" dirty="0" err="1"/>
              <a:t>usado</a:t>
            </a:r>
            <a:r>
              <a:rPr lang="en-US" sz="1600" dirty="0"/>
              <a:t>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los</a:t>
            </a:r>
            <a:r>
              <a:rPr lang="en-US" sz="1600" dirty="0"/>
              <a:t> dos </a:t>
            </a:r>
            <a:r>
              <a:rPr lang="en-US" sz="1600" dirty="0" err="1"/>
              <a:t>primeros</a:t>
            </a:r>
            <a:r>
              <a:rPr lang="en-US" sz="1600" dirty="0"/>
              <a:t> </a:t>
            </a:r>
            <a:r>
              <a:rPr lang="en-US" sz="1600" dirty="0" err="1"/>
              <a:t>clasificados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2017 Soccer Prediction Challenge.</a:t>
            </a:r>
          </a:p>
          <a:p>
            <a:pPr lvl="1"/>
            <a:r>
              <a:rPr lang="en-US" sz="1600" b="1" dirty="0" err="1"/>
              <a:t>TabNet</a:t>
            </a:r>
            <a:r>
              <a:rPr lang="en-US" sz="1600" dirty="0"/>
              <a:t>: extension of DNN that has the advantage in data mining to learn tabular data.</a:t>
            </a:r>
          </a:p>
          <a:p>
            <a:pPr lvl="1"/>
            <a:endParaRPr lang="en-US" sz="1600" dirty="0"/>
          </a:p>
          <a:p>
            <a:r>
              <a:rPr lang="es-ES" sz="2000" dirty="0"/>
              <a:t>DATA:</a:t>
            </a:r>
          </a:p>
          <a:p>
            <a:pPr lvl="1"/>
            <a:r>
              <a:rPr lang="es-ES" sz="1600" dirty="0"/>
              <a:t>216,743 </a:t>
            </a:r>
            <a:r>
              <a:rPr lang="es-ES" sz="1600" dirty="0" err="1"/>
              <a:t>matches</a:t>
            </a:r>
            <a:endParaRPr lang="es-ES" sz="1600" dirty="0"/>
          </a:p>
          <a:p>
            <a:pPr lvl="1"/>
            <a:r>
              <a:rPr lang="es-ES" sz="1600" dirty="0"/>
              <a:t>17 </a:t>
            </a:r>
            <a:r>
              <a:rPr lang="es-ES" sz="1600" dirty="0" err="1"/>
              <a:t>seasons</a:t>
            </a:r>
            <a:r>
              <a:rPr lang="es-ES" sz="1600" dirty="0"/>
              <a:t> (2001-2018)</a:t>
            </a:r>
          </a:p>
          <a:p>
            <a:pPr lvl="1"/>
            <a:r>
              <a:rPr lang="es-ES" sz="1600" dirty="0"/>
              <a:t>35 </a:t>
            </a:r>
            <a:r>
              <a:rPr lang="es-ES" sz="1600" dirty="0" err="1"/>
              <a:t>countries</a:t>
            </a:r>
            <a:endParaRPr lang="es-ES" sz="1600" dirty="0"/>
          </a:p>
          <a:p>
            <a:pPr lvl="1"/>
            <a:r>
              <a:rPr lang="es-ES" sz="1600" dirty="0"/>
              <a:t>206 </a:t>
            </a:r>
            <a:r>
              <a:rPr lang="es-ES" sz="1600" dirty="0" err="1"/>
              <a:t>matches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testing</a:t>
            </a:r>
            <a:r>
              <a:rPr lang="es-ES" sz="1600" dirty="0"/>
              <a:t> </a:t>
            </a:r>
            <a:r>
              <a:rPr lang="es-ES" sz="1600" dirty="0" err="1"/>
              <a:t>from</a:t>
            </a:r>
            <a:r>
              <a:rPr lang="es-ES" sz="1600" dirty="0"/>
              <a:t> 52 </a:t>
            </a:r>
            <a:r>
              <a:rPr lang="es-ES" sz="1600" dirty="0" err="1"/>
              <a:t>football</a:t>
            </a:r>
            <a:r>
              <a:rPr lang="es-ES" sz="1600" dirty="0"/>
              <a:t> leagues.</a:t>
            </a:r>
          </a:p>
          <a:p>
            <a:pPr lvl="2"/>
            <a:r>
              <a:rPr lang="es-ES" sz="1200" dirty="0" err="1"/>
              <a:t>Features</a:t>
            </a:r>
            <a:r>
              <a:rPr lang="es-ES" sz="1200" dirty="0"/>
              <a:t>: </a:t>
            </a:r>
            <a:r>
              <a:rPr lang="es-ES" sz="1200" dirty="0" err="1"/>
              <a:t>season</a:t>
            </a:r>
            <a:r>
              <a:rPr lang="es-ES" sz="1200" dirty="0"/>
              <a:t>, league, data, home and </a:t>
            </a:r>
            <a:r>
              <a:rPr lang="es-ES" sz="1200" dirty="0" err="1"/>
              <a:t>away</a:t>
            </a:r>
            <a:r>
              <a:rPr lang="es-ES" sz="1200" dirty="0"/>
              <a:t> </a:t>
            </a:r>
            <a:r>
              <a:rPr lang="es-ES" sz="1200" dirty="0" err="1"/>
              <a:t>team</a:t>
            </a:r>
            <a:r>
              <a:rPr lang="es-ES" sz="1200" dirty="0"/>
              <a:t>, </a:t>
            </a:r>
            <a:r>
              <a:rPr lang="es-ES" sz="1200" dirty="0" err="1"/>
              <a:t>scored</a:t>
            </a:r>
            <a:r>
              <a:rPr lang="es-ES" sz="1200" dirty="0"/>
              <a:t>, </a:t>
            </a:r>
            <a:r>
              <a:rPr lang="es-ES" sz="1200" dirty="0" err="1"/>
              <a:t>goal</a:t>
            </a:r>
            <a:r>
              <a:rPr lang="es-ES" sz="1200" dirty="0"/>
              <a:t> </a:t>
            </a:r>
            <a:r>
              <a:rPr lang="es-ES" sz="1200" dirty="0" err="1"/>
              <a:t>difference</a:t>
            </a:r>
            <a:r>
              <a:rPr lang="es-ES" sz="1200" dirty="0"/>
              <a:t> and </a:t>
            </a:r>
            <a:r>
              <a:rPr lang="es-ES" sz="1200" dirty="0" err="1"/>
              <a:t>matches</a:t>
            </a:r>
            <a:r>
              <a:rPr lang="es-ES" sz="1200" dirty="0"/>
              <a:t> </a:t>
            </a:r>
            <a:r>
              <a:rPr lang="es-ES" sz="1200" dirty="0" err="1"/>
              <a:t>result</a:t>
            </a:r>
            <a:r>
              <a:rPr lang="es-ES" sz="1200" dirty="0"/>
              <a:t> (W-D-L)</a:t>
            </a:r>
          </a:p>
          <a:p>
            <a:pPr lvl="1"/>
            <a:r>
              <a:rPr lang="es-ES" sz="1600" dirty="0"/>
              <a:t>RAW </a:t>
            </a:r>
            <a:r>
              <a:rPr lang="es-ES" sz="1600" dirty="0" err="1"/>
              <a:t>dataset</a:t>
            </a:r>
            <a:r>
              <a:rPr lang="es-ES" sz="1600" dirty="0"/>
              <a:t> </a:t>
            </a:r>
            <a:r>
              <a:rPr lang="es-ES" sz="1600" dirty="0" err="1"/>
              <a:t>transformed</a:t>
            </a:r>
            <a:r>
              <a:rPr lang="es-ES" sz="1600" dirty="0"/>
              <a:t> </a:t>
            </a:r>
            <a:r>
              <a:rPr lang="es-ES" sz="1600" dirty="0" err="1"/>
              <a:t>into</a:t>
            </a:r>
            <a:r>
              <a:rPr lang="es-ES" sz="1600" dirty="0"/>
              <a:t> pi-rating (home and </a:t>
            </a:r>
            <a:r>
              <a:rPr lang="es-ES" sz="1600" dirty="0" err="1"/>
              <a:t>away</a:t>
            </a:r>
            <a:r>
              <a:rPr lang="es-ES" sz="1600" dirty="0"/>
              <a:t>)</a:t>
            </a:r>
          </a:p>
          <a:p>
            <a:pPr lvl="1"/>
            <a:endParaRPr lang="es-ES" sz="1600" dirty="0"/>
          </a:p>
          <a:p>
            <a:pPr lvl="2"/>
            <a:endParaRPr lang="es-ES" sz="1200" dirty="0"/>
          </a:p>
          <a:p>
            <a:pPr marL="914400" lvl="2" indent="0">
              <a:buNone/>
            </a:pPr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8C0331A-F597-0403-2DF4-377E45614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546" y="1779627"/>
            <a:ext cx="5448235" cy="21217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8B6A881-DC33-2DB8-9DFA-79A803997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109" y="3990266"/>
            <a:ext cx="4994782" cy="160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15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F5662-9B60-F017-8E6D-A4562E96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learning for football outcomes prediction based on football rating system (2022)</a:t>
            </a:r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AD3069-8F98-4DBE-B3B1-249EE828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1236"/>
            <a:ext cx="5691996" cy="4211782"/>
          </a:xfrm>
        </p:spPr>
        <p:txBody>
          <a:bodyPr>
            <a:normAutofit/>
          </a:bodyPr>
          <a:lstStyle/>
          <a:p>
            <a:r>
              <a:rPr lang="en-US" sz="1800" dirty="0"/>
              <a:t>EVALUATION:</a:t>
            </a:r>
          </a:p>
          <a:p>
            <a:pPr lvl="1"/>
            <a:r>
              <a:rPr lang="en-US" sz="1600" dirty="0"/>
              <a:t>Accuracy</a:t>
            </a:r>
          </a:p>
          <a:p>
            <a:pPr lvl="1"/>
            <a:r>
              <a:rPr lang="en-US" sz="1600" dirty="0"/>
              <a:t>Rank </a:t>
            </a:r>
            <a:r>
              <a:rPr lang="en-US" sz="1600" dirty="0" err="1"/>
              <a:t>Probabiliy</a:t>
            </a:r>
            <a:r>
              <a:rPr lang="en-US" sz="1600" dirty="0"/>
              <a:t> Scores (RPS)</a:t>
            </a:r>
          </a:p>
          <a:p>
            <a:pPr lvl="2"/>
            <a:r>
              <a:rPr lang="en-US" sz="1200" dirty="0"/>
              <a:t>where r is the number of potential outcomes, 𝑝B is the forecasted probability of outcome j and 𝑝𝑒B is the actual probability of outcome j. The smaller value of score indicates better forecasts accuracy</a:t>
            </a:r>
          </a:p>
          <a:p>
            <a:endParaRPr lang="es-ES" sz="2400" dirty="0"/>
          </a:p>
          <a:p>
            <a:pPr lvl="2"/>
            <a:endParaRPr lang="es-ES" sz="1200" dirty="0"/>
          </a:p>
          <a:p>
            <a:pPr lvl="2"/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3B0F08-D2B0-456B-45B6-726B40AFE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459" y="2391522"/>
            <a:ext cx="1889670" cy="5111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7DE9368-18EF-7A3F-4E2A-6A83B8C3D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1" y="3955339"/>
            <a:ext cx="9005456" cy="246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97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F5662-9B60-F017-8E6D-A4562E96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Deep Learning Approach for Football Match Classification of English Premier League (EPL) Based on Full-Time Results (2022)</a:t>
            </a:r>
            <a:endParaRPr lang="es-ES" sz="360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AD3069-8F98-4DBE-B3B1-249EE828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1236"/>
            <a:ext cx="6111815" cy="4211782"/>
          </a:xfrm>
        </p:spPr>
        <p:txBody>
          <a:bodyPr>
            <a:normAutofit/>
          </a:bodyPr>
          <a:lstStyle/>
          <a:p>
            <a:r>
              <a:rPr lang="en-US" sz="2000" dirty="0"/>
              <a:t>APPROACH</a:t>
            </a:r>
            <a:r>
              <a:rPr lang="en-US" sz="1800" dirty="0"/>
              <a:t>:</a:t>
            </a:r>
          </a:p>
          <a:p>
            <a:pPr lvl="1"/>
            <a:r>
              <a:rPr lang="en-US" sz="1600" dirty="0"/>
              <a:t>Prediction of Win-Draw-Loss.</a:t>
            </a:r>
          </a:p>
          <a:p>
            <a:pPr lvl="1"/>
            <a:r>
              <a:rPr lang="en-US" sz="1600" dirty="0"/>
              <a:t>Use of WEKA for MLP and DNN (WekaDeeplearning4j package)</a:t>
            </a:r>
          </a:p>
          <a:p>
            <a:pPr lvl="2"/>
            <a:r>
              <a:rPr lang="en-US" sz="1200" dirty="0"/>
              <a:t>Basic experiment: single 8-node layer.</a:t>
            </a:r>
          </a:p>
          <a:p>
            <a:pPr lvl="2"/>
            <a:r>
              <a:rPr lang="en-US" sz="1200" dirty="0"/>
              <a:t>16-node dense layers</a:t>
            </a:r>
          </a:p>
          <a:p>
            <a:pPr lvl="1"/>
            <a:r>
              <a:rPr lang="en-US" sz="1600" dirty="0"/>
              <a:t>10 fold CV</a:t>
            </a:r>
          </a:p>
          <a:p>
            <a:pPr lvl="1"/>
            <a:endParaRPr lang="en-US" sz="1600" dirty="0"/>
          </a:p>
          <a:p>
            <a:r>
              <a:rPr lang="es-ES" sz="2000" dirty="0"/>
              <a:t>DATA:</a:t>
            </a:r>
          </a:p>
          <a:p>
            <a:pPr lvl="1"/>
            <a:r>
              <a:rPr lang="es-ES" sz="1600" dirty="0">
                <a:hlinkClick r:id="rId2"/>
              </a:rPr>
              <a:t>https://www.football-data.co.uk/</a:t>
            </a:r>
            <a:endParaRPr lang="es-ES" sz="1600" dirty="0"/>
          </a:p>
          <a:p>
            <a:pPr lvl="1"/>
            <a:r>
              <a:rPr lang="es-ES" sz="1600" dirty="0"/>
              <a:t>Premier League 2018-2019</a:t>
            </a:r>
          </a:p>
          <a:p>
            <a:pPr lvl="2"/>
            <a:r>
              <a:rPr lang="es-ES" sz="1200" dirty="0"/>
              <a:t>380 </a:t>
            </a:r>
            <a:r>
              <a:rPr lang="es-ES" sz="1200" dirty="0" err="1"/>
              <a:t>matches</a:t>
            </a:r>
            <a:r>
              <a:rPr lang="es-ES" sz="1200" dirty="0"/>
              <a:t> 62 </a:t>
            </a:r>
            <a:r>
              <a:rPr lang="es-ES" sz="1200" dirty="0" err="1"/>
              <a:t>attributes</a:t>
            </a:r>
            <a:endParaRPr lang="es-ES" sz="1200" dirty="0"/>
          </a:p>
          <a:p>
            <a:pPr lvl="1"/>
            <a:endParaRPr lang="es-ES" sz="1600" dirty="0"/>
          </a:p>
          <a:p>
            <a:pPr lvl="1"/>
            <a:endParaRPr lang="es-ES" sz="1600" dirty="0"/>
          </a:p>
          <a:p>
            <a:pPr lvl="2"/>
            <a:endParaRPr lang="es-ES" sz="1200" dirty="0"/>
          </a:p>
          <a:p>
            <a:pPr marL="914400" lvl="2" indent="0">
              <a:buNone/>
            </a:pPr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FAA20D-861C-411E-D576-E9EBB4F10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015" y="1376652"/>
            <a:ext cx="4239406" cy="274818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8C5F28B-8B84-54DE-ADEB-6EACD14D6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73" y="5690128"/>
            <a:ext cx="5569527" cy="91562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A8899E2-A96D-9A21-A3D5-9C4EB95C8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033" y="4011340"/>
            <a:ext cx="5241985" cy="294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65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F5662-9B60-F017-8E6D-A4562E96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252855" cy="1325563"/>
          </a:xfrm>
        </p:spPr>
        <p:txBody>
          <a:bodyPr>
            <a:noAutofit/>
          </a:bodyPr>
          <a:lstStyle/>
          <a:p>
            <a:r>
              <a:rPr lang="en-US" sz="3600" dirty="0"/>
              <a:t>Machine Learning for Football Matches and Tournaments (2022)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AD3069-8F98-4DBE-B3B1-249EE828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252854" cy="507033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APPROACH</a:t>
            </a:r>
            <a:r>
              <a:rPr lang="en-US" sz="1800" dirty="0"/>
              <a:t>:</a:t>
            </a:r>
          </a:p>
          <a:p>
            <a:pPr lvl="1"/>
            <a:r>
              <a:rPr lang="en-US" sz="1600" dirty="0"/>
              <a:t>Prediction of Win-Draw-Loss at </a:t>
            </a:r>
            <a:r>
              <a:rPr lang="en-US" sz="1600" b="1" dirty="0"/>
              <a:t>half time </a:t>
            </a:r>
            <a:r>
              <a:rPr lang="en-US" sz="1600" dirty="0"/>
              <a:t>(and the score at that time).</a:t>
            </a:r>
          </a:p>
          <a:p>
            <a:pPr lvl="1"/>
            <a:r>
              <a:rPr lang="en-US" sz="1600" dirty="0"/>
              <a:t>Ensemble techniques</a:t>
            </a:r>
          </a:p>
          <a:p>
            <a:pPr lvl="1"/>
            <a:r>
              <a:rPr lang="en-US" sz="1600" dirty="0"/>
              <a:t>Using historical and current performance of club and players</a:t>
            </a:r>
          </a:p>
          <a:p>
            <a:pPr lvl="1"/>
            <a:r>
              <a:rPr lang="en-US" sz="1600" dirty="0"/>
              <a:t>Based on their previous work: </a:t>
            </a:r>
            <a:r>
              <a:rPr lang="en-US" sz="1600" i="1" dirty="0"/>
              <a:t>“Full Time Result Prediction using Ensemble Techniques”.</a:t>
            </a:r>
          </a:p>
          <a:p>
            <a:pPr lvl="2"/>
            <a:r>
              <a:rPr lang="en-US" sz="1200" dirty="0"/>
              <a:t>Added: independent features such as the form, form points, etc. and considered goals scored and conceded by teams in the current season.</a:t>
            </a:r>
          </a:p>
          <a:p>
            <a:pPr lvl="1"/>
            <a:r>
              <a:rPr lang="en-US" sz="1600" dirty="0"/>
              <a:t>Train-test split in sequential order (time order)</a:t>
            </a:r>
          </a:p>
          <a:p>
            <a:r>
              <a:rPr lang="es-ES" sz="2000" dirty="0"/>
              <a:t>DATA:</a:t>
            </a:r>
          </a:p>
          <a:p>
            <a:pPr lvl="1"/>
            <a:r>
              <a:rPr lang="es-ES" sz="1600" dirty="0">
                <a:hlinkClick r:id="rId2"/>
              </a:rPr>
              <a:t>https://www.football-data.co.uk/</a:t>
            </a:r>
            <a:endParaRPr lang="es-ES" sz="1600" dirty="0"/>
          </a:p>
          <a:p>
            <a:pPr lvl="1"/>
            <a:r>
              <a:rPr lang="es-ES" sz="1600" dirty="0"/>
              <a:t>Premier League 2005-2020</a:t>
            </a:r>
          </a:p>
          <a:p>
            <a:pPr lvl="2"/>
            <a:r>
              <a:rPr lang="es-ES" sz="1200" dirty="0"/>
              <a:t>Training: 6060 </a:t>
            </a:r>
            <a:r>
              <a:rPr lang="es-ES" sz="1200" dirty="0" err="1"/>
              <a:t>matches</a:t>
            </a:r>
            <a:r>
              <a:rPr lang="es-ES" sz="1200" dirty="0"/>
              <a:t> 45 </a:t>
            </a:r>
            <a:r>
              <a:rPr lang="es-ES" sz="1200" dirty="0" err="1"/>
              <a:t>attributes</a:t>
            </a:r>
            <a:endParaRPr lang="es-ES" sz="1200" dirty="0"/>
          </a:p>
          <a:p>
            <a:pPr lvl="2"/>
            <a:r>
              <a:rPr lang="es-ES" sz="1200" dirty="0" err="1"/>
              <a:t>Last</a:t>
            </a:r>
            <a:r>
              <a:rPr lang="es-ES" sz="1200" dirty="0"/>
              <a:t> 20 </a:t>
            </a:r>
            <a:r>
              <a:rPr lang="es-ES" sz="1200" dirty="0" err="1"/>
              <a:t>matches</a:t>
            </a:r>
            <a:r>
              <a:rPr lang="es-ES" sz="1200" dirty="0"/>
              <a:t> 2020-21 as </a:t>
            </a:r>
            <a:r>
              <a:rPr lang="es-ES" sz="1200" dirty="0" err="1"/>
              <a:t>validation</a:t>
            </a:r>
            <a:endParaRPr lang="es-ES" sz="1200" dirty="0"/>
          </a:p>
          <a:p>
            <a:pPr lvl="2"/>
            <a:r>
              <a:rPr lang="es-ES" sz="1200" dirty="0" err="1"/>
              <a:t>Ongoing</a:t>
            </a:r>
            <a:r>
              <a:rPr lang="es-ES" sz="1200" dirty="0"/>
              <a:t> 2021-2022 </a:t>
            </a:r>
            <a:r>
              <a:rPr lang="es-ES" sz="1200" dirty="0" err="1"/>
              <a:t>season</a:t>
            </a:r>
            <a:r>
              <a:rPr lang="es-ES" sz="1200" dirty="0"/>
              <a:t> as test.</a:t>
            </a:r>
          </a:p>
          <a:p>
            <a:pPr lvl="1"/>
            <a:r>
              <a:rPr lang="es-ES" sz="1600" dirty="0"/>
              <a:t>Filtran los primeros partidos (contribución insignificante)</a:t>
            </a:r>
          </a:p>
          <a:p>
            <a:pPr lvl="1"/>
            <a:r>
              <a:rPr lang="es-ES" sz="1600" dirty="0" err="1"/>
              <a:t>Streaks</a:t>
            </a:r>
            <a:r>
              <a:rPr lang="es-ES" sz="1600" dirty="0"/>
              <a:t>: </a:t>
            </a:r>
            <a:r>
              <a:rPr lang="es-ES" sz="1600" dirty="0" err="1"/>
              <a:t>last</a:t>
            </a:r>
            <a:r>
              <a:rPr lang="es-ES" sz="1600" dirty="0"/>
              <a:t> 5 </a:t>
            </a:r>
            <a:r>
              <a:rPr lang="es-ES" sz="1600" dirty="0" err="1"/>
              <a:t>games</a:t>
            </a:r>
            <a:r>
              <a:rPr lang="es-ES" sz="1600" dirty="0"/>
              <a:t> (n </a:t>
            </a:r>
            <a:r>
              <a:rPr lang="es-ES" sz="1600" dirty="0" err="1"/>
              <a:t>depending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accuracy</a:t>
            </a:r>
            <a:r>
              <a:rPr lang="es-ES" sz="1600" dirty="0"/>
              <a:t>)</a:t>
            </a:r>
          </a:p>
          <a:p>
            <a:pPr lvl="1"/>
            <a:r>
              <a:rPr lang="es-ES" sz="1600" dirty="0" err="1"/>
              <a:t>Scale</a:t>
            </a:r>
            <a:r>
              <a:rPr lang="es-ES" sz="1600" dirty="0"/>
              <a:t> </a:t>
            </a:r>
            <a:r>
              <a:rPr lang="es-ES" sz="1600" dirty="0" err="1"/>
              <a:t>features</a:t>
            </a:r>
            <a:r>
              <a:rPr lang="es-ES" sz="1600" dirty="0"/>
              <a:t> </a:t>
            </a:r>
            <a:r>
              <a:rPr lang="es-ES" sz="1600" dirty="0" err="1"/>
              <a:t>according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their</a:t>
            </a:r>
            <a:r>
              <a:rPr lang="es-ES" sz="1600" dirty="0"/>
              <a:t> match </a:t>
            </a:r>
            <a:r>
              <a:rPr lang="es-ES" sz="1600" dirty="0" err="1"/>
              <a:t>week</a:t>
            </a:r>
            <a:r>
              <a:rPr lang="es-ES" sz="1600" dirty="0"/>
              <a:t> (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avoid</a:t>
            </a:r>
            <a:r>
              <a:rPr lang="es-ES" sz="1600" dirty="0"/>
              <a:t> </a:t>
            </a:r>
            <a:r>
              <a:rPr lang="es-ES" sz="1600" dirty="0" err="1"/>
              <a:t>bias</a:t>
            </a:r>
            <a:r>
              <a:rPr lang="es-ES" sz="1600" dirty="0"/>
              <a:t>, as </a:t>
            </a:r>
            <a:r>
              <a:rPr lang="es-ES" sz="1600" dirty="0" err="1"/>
              <a:t>some</a:t>
            </a:r>
            <a:r>
              <a:rPr lang="es-ES" sz="1600" dirty="0"/>
              <a:t> </a:t>
            </a:r>
            <a:r>
              <a:rPr lang="es-ES" sz="1600" dirty="0" err="1"/>
              <a:t>features</a:t>
            </a:r>
            <a:r>
              <a:rPr lang="es-ES" sz="1600" dirty="0"/>
              <a:t> </a:t>
            </a:r>
            <a:r>
              <a:rPr lang="es-ES" sz="1600" dirty="0" err="1"/>
              <a:t>increase</a:t>
            </a:r>
            <a:r>
              <a:rPr lang="es-ES" sz="1600" dirty="0"/>
              <a:t> </a:t>
            </a:r>
            <a:r>
              <a:rPr lang="es-ES" sz="1600" dirty="0" err="1"/>
              <a:t>linearly</a:t>
            </a:r>
            <a:r>
              <a:rPr lang="es-ES" sz="1600" dirty="0"/>
              <a:t> as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season</a:t>
            </a:r>
            <a:r>
              <a:rPr lang="es-ES" sz="1600" dirty="0"/>
              <a:t> </a:t>
            </a:r>
            <a:r>
              <a:rPr lang="es-ES" sz="1600" dirty="0" err="1"/>
              <a:t>goes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)</a:t>
            </a:r>
          </a:p>
          <a:p>
            <a:pPr lvl="1"/>
            <a:endParaRPr lang="es-ES" sz="1600" dirty="0"/>
          </a:p>
          <a:p>
            <a:pPr lvl="1"/>
            <a:endParaRPr lang="es-ES" sz="1600" dirty="0"/>
          </a:p>
          <a:p>
            <a:pPr lvl="2"/>
            <a:endParaRPr lang="es-ES" sz="1200" dirty="0"/>
          </a:p>
          <a:p>
            <a:pPr marL="914400" lvl="2" indent="0">
              <a:buNone/>
            </a:pPr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1FF7EF0-F61C-989C-F795-120FDA59D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908" y="666084"/>
            <a:ext cx="2800927" cy="23177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4F960B5-C734-EBC7-58F8-253284FD2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908" y="3124911"/>
            <a:ext cx="2837341" cy="373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82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F5662-9B60-F017-8E6D-A4562E96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15545" cy="1325563"/>
          </a:xfrm>
        </p:spPr>
        <p:txBody>
          <a:bodyPr>
            <a:noAutofit/>
          </a:bodyPr>
          <a:lstStyle/>
          <a:p>
            <a:r>
              <a:rPr lang="en-US" sz="3600" dirty="0"/>
              <a:t>Machine Learning for Football Matches and Tournaments (2022)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AD3069-8F98-4DBE-B3B1-249EE828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70106"/>
            <a:ext cx="5821218" cy="1006330"/>
          </a:xfrm>
        </p:spPr>
        <p:txBody>
          <a:bodyPr>
            <a:normAutofit/>
          </a:bodyPr>
          <a:lstStyle/>
          <a:p>
            <a:r>
              <a:rPr lang="en-US" sz="2000" dirty="0"/>
              <a:t>RESULTS</a:t>
            </a:r>
            <a:r>
              <a:rPr lang="en-US" sz="1800" dirty="0"/>
              <a:t>:</a:t>
            </a:r>
          </a:p>
          <a:p>
            <a:pPr lvl="1"/>
            <a:r>
              <a:rPr lang="es-ES" sz="1600" b="1" dirty="0"/>
              <a:t>Ensemble</a:t>
            </a:r>
            <a:r>
              <a:rPr lang="es-ES" sz="1600" dirty="0"/>
              <a:t>: </a:t>
            </a:r>
            <a:r>
              <a:rPr lang="es-ES" sz="1600" dirty="0" err="1"/>
              <a:t>Combining</a:t>
            </a:r>
            <a:r>
              <a:rPr lang="es-ES" sz="1600" dirty="0"/>
              <a:t> top 3 </a:t>
            </a:r>
            <a:r>
              <a:rPr lang="es-ES" sz="1600" dirty="0" err="1"/>
              <a:t>algorithms</a:t>
            </a:r>
            <a:r>
              <a:rPr lang="es-ES" sz="1600" dirty="0"/>
              <a:t>: </a:t>
            </a:r>
            <a:r>
              <a:rPr lang="es-ES" sz="1600" b="1" dirty="0" err="1"/>
              <a:t>Voting</a:t>
            </a:r>
            <a:r>
              <a:rPr lang="es-ES" sz="1600" b="1" dirty="0"/>
              <a:t> </a:t>
            </a:r>
            <a:r>
              <a:rPr lang="es-ES" sz="1600" b="1" dirty="0" err="1"/>
              <a:t>classifier</a:t>
            </a:r>
            <a:r>
              <a:rPr lang="es-ES" sz="1600" b="1" dirty="0"/>
              <a:t> </a:t>
            </a:r>
            <a:r>
              <a:rPr lang="es-ES" sz="1600" dirty="0"/>
              <a:t>(</a:t>
            </a:r>
            <a:r>
              <a:rPr lang="es-ES" sz="1600" dirty="0" err="1"/>
              <a:t>accuracy</a:t>
            </a:r>
            <a:r>
              <a:rPr lang="es-ES" sz="1600" dirty="0"/>
              <a:t> 80%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validation</a:t>
            </a:r>
            <a:r>
              <a:rPr lang="es-ES" sz="1600" dirty="0"/>
              <a:t> set)</a:t>
            </a:r>
            <a:endParaRPr lang="es-ES" sz="1200" dirty="0"/>
          </a:p>
          <a:p>
            <a:pPr lvl="1"/>
            <a:endParaRPr lang="es-ES" sz="1600" dirty="0"/>
          </a:p>
          <a:p>
            <a:pPr lvl="1"/>
            <a:endParaRPr lang="es-ES" sz="1600" dirty="0"/>
          </a:p>
          <a:p>
            <a:pPr lvl="2"/>
            <a:endParaRPr lang="es-ES" sz="1200" dirty="0"/>
          </a:p>
          <a:p>
            <a:pPr marL="914400" lvl="2" indent="0">
              <a:buNone/>
            </a:pPr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082EF54-3093-1352-29F2-EE240704C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122" y="2757808"/>
            <a:ext cx="3310407" cy="203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39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F5662-9B60-F017-8E6D-A4562E96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58555" cy="1325563"/>
          </a:xfrm>
        </p:spPr>
        <p:txBody>
          <a:bodyPr>
            <a:noAutofit/>
          </a:bodyPr>
          <a:lstStyle/>
          <a:p>
            <a:r>
              <a:rPr lang="en-US" sz="3600" dirty="0"/>
              <a:t>Prediction of Game Result in Chinese Football</a:t>
            </a:r>
            <a:br>
              <a:rPr lang="en-US" sz="3600" dirty="0"/>
            </a:br>
            <a:r>
              <a:rPr lang="en-US" sz="3600" dirty="0"/>
              <a:t>Super League (2022)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AD3069-8F98-4DBE-B3B1-249EE828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523183" cy="5167312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APPROACH</a:t>
            </a:r>
            <a:r>
              <a:rPr lang="en-US" sz="1800" dirty="0"/>
              <a:t>:</a:t>
            </a:r>
          </a:p>
          <a:p>
            <a:pPr lvl="1"/>
            <a:r>
              <a:rPr lang="en-US" sz="1600" dirty="0"/>
              <a:t>SVM and LSTM</a:t>
            </a:r>
          </a:p>
          <a:p>
            <a:pPr lvl="1"/>
            <a:r>
              <a:rPr lang="en-US" sz="1600" dirty="0"/>
              <a:t>Cross-validation</a:t>
            </a:r>
          </a:p>
          <a:p>
            <a:pPr lvl="1"/>
            <a:r>
              <a:rPr lang="en-US" sz="1600" dirty="0"/>
              <a:t>Train 70% test 30%</a:t>
            </a:r>
          </a:p>
          <a:p>
            <a:r>
              <a:rPr lang="es-ES" sz="2000" dirty="0"/>
              <a:t>DATA:</a:t>
            </a:r>
          </a:p>
          <a:p>
            <a:pPr lvl="1"/>
            <a:r>
              <a:rPr lang="es-ES" sz="1600" dirty="0" err="1"/>
              <a:t>Source</a:t>
            </a:r>
            <a:r>
              <a:rPr lang="es-ES" sz="1600" dirty="0"/>
              <a:t> data:</a:t>
            </a:r>
          </a:p>
          <a:p>
            <a:pPr lvl="2"/>
            <a:r>
              <a:rPr lang="es-ES" sz="1200" dirty="0" err="1"/>
              <a:t>by</a:t>
            </a:r>
            <a:r>
              <a:rPr lang="es-ES" sz="1200" dirty="0"/>
              <a:t> </a:t>
            </a:r>
            <a:r>
              <a:rPr lang="es-ES" sz="1200" dirty="0" err="1"/>
              <a:t>Champion</a:t>
            </a:r>
            <a:r>
              <a:rPr lang="es-ES" sz="1200" dirty="0"/>
              <a:t> </a:t>
            </a:r>
            <a:r>
              <a:rPr lang="es-ES" sz="1200" dirty="0" err="1"/>
              <a:t>Technology</a:t>
            </a:r>
            <a:endParaRPr lang="es-ES" sz="1200" dirty="0"/>
          </a:p>
          <a:p>
            <a:pPr lvl="2"/>
            <a:r>
              <a:rPr lang="es-ES" sz="1200" dirty="0"/>
              <a:t>Player data: 26,288 simples w/ 101 variables</a:t>
            </a:r>
          </a:p>
          <a:p>
            <a:pPr lvl="2"/>
            <a:r>
              <a:rPr lang="es-ES" sz="1200" dirty="0"/>
              <a:t>Match data: 1,920 simples and 175 variables</a:t>
            </a:r>
          </a:p>
          <a:p>
            <a:pPr lvl="1"/>
            <a:r>
              <a:rPr lang="es-ES" sz="1600" dirty="0"/>
              <a:t>1920 </a:t>
            </a:r>
            <a:r>
              <a:rPr lang="es-ES" sz="1600" dirty="0" err="1"/>
              <a:t>matches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CSL (2014-2017)</a:t>
            </a:r>
          </a:p>
          <a:p>
            <a:pPr lvl="2"/>
            <a:r>
              <a:rPr lang="es-ES" sz="1200" dirty="0" err="1"/>
              <a:t>Each</a:t>
            </a:r>
            <a:r>
              <a:rPr lang="es-ES" sz="1200" dirty="0"/>
              <a:t> </a:t>
            </a:r>
            <a:r>
              <a:rPr lang="es-ES" sz="1200" dirty="0" err="1"/>
              <a:t>team</a:t>
            </a:r>
            <a:r>
              <a:rPr lang="es-ES" sz="1200" dirty="0"/>
              <a:t> </a:t>
            </a:r>
            <a:r>
              <a:rPr lang="es-ES" sz="1200" dirty="0" err="1"/>
              <a:t>plays</a:t>
            </a:r>
            <a:r>
              <a:rPr lang="es-ES" sz="1200" dirty="0"/>
              <a:t> 30 </a:t>
            </a:r>
            <a:r>
              <a:rPr lang="es-ES" sz="1200" dirty="0" err="1"/>
              <a:t>games</a:t>
            </a:r>
            <a:r>
              <a:rPr lang="es-ES" sz="1200" dirty="0"/>
              <a:t> per </a:t>
            </a:r>
            <a:r>
              <a:rPr lang="es-ES" sz="1200" dirty="0" err="1"/>
              <a:t>year</a:t>
            </a:r>
            <a:endParaRPr lang="es-ES" sz="1200" dirty="0"/>
          </a:p>
          <a:p>
            <a:pPr lvl="2"/>
            <a:r>
              <a:rPr lang="es-ES" sz="1200" dirty="0"/>
              <a:t>64 </a:t>
            </a:r>
            <a:r>
              <a:rPr lang="es-ES" sz="1200" dirty="0" err="1"/>
              <a:t>features</a:t>
            </a:r>
            <a:endParaRPr lang="es-ES" sz="1200" dirty="0"/>
          </a:p>
          <a:p>
            <a:r>
              <a:rPr lang="es-ES" sz="2000" dirty="0"/>
              <a:t>DIM RED:</a:t>
            </a:r>
          </a:p>
          <a:p>
            <a:pPr lvl="1"/>
            <a:r>
              <a:rPr lang="en-US" sz="1600" dirty="0"/>
              <a:t>Factor analysis: kind of PCA</a:t>
            </a:r>
          </a:p>
          <a:p>
            <a:pPr lvl="1"/>
            <a:r>
              <a:rPr lang="en-US" sz="1600" dirty="0"/>
              <a:t>Logistic Lasso to fit the training data and select variables</a:t>
            </a:r>
          </a:p>
          <a:p>
            <a:pPr lvl="2"/>
            <a:r>
              <a:rPr lang="en-US" sz="1200" dirty="0"/>
              <a:t>Selection of 64 variables according to the following dimensions: passing, set piece, attack, confrontation, defense, error and foul… </a:t>
            </a:r>
          </a:p>
          <a:p>
            <a:pPr lvl="2"/>
            <a:r>
              <a:rPr lang="en-US" sz="1200" dirty="0"/>
              <a:t>Also from the 64 variables, new variables are created: </a:t>
            </a:r>
            <a:r>
              <a:rPr lang="en-US" sz="1200" b="1" dirty="0"/>
              <a:t>average of each team in the season</a:t>
            </a:r>
          </a:p>
          <a:p>
            <a:pPr lvl="2"/>
            <a:r>
              <a:rPr lang="en-US" sz="1200" dirty="0" err="1"/>
              <a:t>Standarization</a:t>
            </a:r>
            <a:r>
              <a:rPr lang="en-US" sz="1200" dirty="0"/>
              <a:t> for continuous variables</a:t>
            </a:r>
            <a:endParaRPr lang="es-ES" sz="1600" dirty="0"/>
          </a:p>
          <a:p>
            <a:pPr marL="914400" lvl="2" indent="0">
              <a:buNone/>
            </a:pPr>
            <a:endParaRPr lang="es-ES" sz="1200" dirty="0"/>
          </a:p>
          <a:p>
            <a:pPr marL="914400" lvl="2" indent="0">
              <a:buNone/>
            </a:pPr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A6E462-CCAC-E164-67CB-D87551744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101" y="1156650"/>
            <a:ext cx="4407371" cy="325181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B583E68-B3C1-F57C-657C-E309AE190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382" y="4274344"/>
            <a:ext cx="4181667" cy="244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21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F5662-9B60-F017-8E6D-A4562E96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58555" cy="1325563"/>
          </a:xfrm>
        </p:spPr>
        <p:txBody>
          <a:bodyPr>
            <a:noAutofit/>
          </a:bodyPr>
          <a:lstStyle/>
          <a:p>
            <a:r>
              <a:rPr lang="en-US" sz="3600" dirty="0"/>
              <a:t>Prediction of Game Result in Chinese Football</a:t>
            </a:r>
            <a:br>
              <a:rPr lang="en-US" sz="3600" dirty="0"/>
            </a:br>
            <a:r>
              <a:rPr lang="en-US" sz="3600" dirty="0"/>
              <a:t>Super League (2022)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AD3069-8F98-4DBE-B3B1-249EE828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523183" cy="5167312"/>
          </a:xfrm>
        </p:spPr>
        <p:txBody>
          <a:bodyPr>
            <a:normAutofit/>
          </a:bodyPr>
          <a:lstStyle/>
          <a:p>
            <a:r>
              <a:rPr lang="es-ES" sz="2000" dirty="0"/>
              <a:t>RESULTS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/>
            <a:endParaRPr lang="es-ES" sz="800" dirty="0"/>
          </a:p>
          <a:p>
            <a:pPr marL="914400" lvl="2" indent="0">
              <a:buNone/>
            </a:pPr>
            <a:endParaRPr lang="es-ES" sz="1600" dirty="0"/>
          </a:p>
          <a:p>
            <a:pPr lvl="1"/>
            <a:endParaRPr lang="es-ES" sz="16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0BBF5B0-71BE-454E-3C0C-846E68CF0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270" y="1690688"/>
            <a:ext cx="5551765" cy="96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53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F5662-9B60-F017-8E6D-A4562E96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Football Match Result Prediction Using Neural Networks and Deep Learning (2020)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AD3069-8F98-4DBE-B3B1-249EE828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1236"/>
            <a:ext cx="6111815" cy="4211782"/>
          </a:xfrm>
        </p:spPr>
        <p:txBody>
          <a:bodyPr>
            <a:normAutofit/>
          </a:bodyPr>
          <a:lstStyle/>
          <a:p>
            <a:r>
              <a:rPr lang="en-US" sz="1600" b="1" dirty="0"/>
              <a:t>Ekansh Tiwari; </a:t>
            </a:r>
            <a:r>
              <a:rPr lang="en-US" sz="1600" b="1" dirty="0" err="1"/>
              <a:t>Prasanjit</a:t>
            </a:r>
            <a:r>
              <a:rPr lang="en-US" sz="1600" b="1" dirty="0"/>
              <a:t> Sardar; Sarika Jain</a:t>
            </a:r>
          </a:p>
          <a:p>
            <a:r>
              <a:rPr lang="en-US" sz="2000" dirty="0"/>
              <a:t>APPROACH</a:t>
            </a:r>
            <a:r>
              <a:rPr lang="en-US" sz="1800" dirty="0"/>
              <a:t>:</a:t>
            </a:r>
          </a:p>
          <a:p>
            <a:pPr lvl="1"/>
            <a:r>
              <a:rPr lang="en-US" sz="1600" dirty="0"/>
              <a:t>LSTM</a:t>
            </a:r>
          </a:p>
          <a:p>
            <a:pPr lvl="1"/>
            <a:endParaRPr lang="en-US" sz="1600" dirty="0"/>
          </a:p>
          <a:p>
            <a:r>
              <a:rPr lang="es-ES" sz="2000" dirty="0"/>
              <a:t>DATA:</a:t>
            </a:r>
          </a:p>
          <a:p>
            <a:pPr lvl="1"/>
            <a:r>
              <a:rPr lang="es-ES" sz="1600" dirty="0">
                <a:hlinkClick r:id="rId2"/>
              </a:rPr>
              <a:t>https://www.football-data.co.uk/</a:t>
            </a:r>
            <a:endParaRPr lang="es-ES" sz="1600" dirty="0"/>
          </a:p>
          <a:p>
            <a:pPr lvl="1"/>
            <a:r>
              <a:rPr lang="es-ES" sz="1600" dirty="0"/>
              <a:t>Premier League 2010-2018</a:t>
            </a:r>
          </a:p>
          <a:p>
            <a:pPr lvl="2"/>
            <a:r>
              <a:rPr lang="es-ES" sz="1200" dirty="0"/>
              <a:t>380 </a:t>
            </a:r>
            <a:r>
              <a:rPr lang="es-ES" sz="1200" dirty="0" err="1"/>
              <a:t>matches</a:t>
            </a:r>
            <a:r>
              <a:rPr lang="es-ES" sz="1200" dirty="0"/>
              <a:t> 62 </a:t>
            </a:r>
            <a:r>
              <a:rPr lang="es-ES" sz="1200" dirty="0" err="1"/>
              <a:t>attributes</a:t>
            </a:r>
            <a:endParaRPr lang="es-ES" sz="1200" dirty="0"/>
          </a:p>
          <a:p>
            <a:pPr lvl="1"/>
            <a:r>
              <a:rPr lang="es-ES" sz="1600" dirty="0" err="1"/>
              <a:t>Features</a:t>
            </a:r>
            <a:r>
              <a:rPr lang="es-ES" sz="1600" dirty="0"/>
              <a:t> </a:t>
            </a:r>
            <a:r>
              <a:rPr lang="es-ES" sz="1600" dirty="0" err="1"/>
              <a:t>calculated</a:t>
            </a:r>
            <a:r>
              <a:rPr lang="es-ES" sz="1600" dirty="0"/>
              <a:t> </a:t>
            </a:r>
            <a:r>
              <a:rPr lang="es-ES" sz="1600" dirty="0" err="1"/>
              <a:t>by</a:t>
            </a:r>
            <a:r>
              <a:rPr lang="es-ES" sz="1600" dirty="0"/>
              <a:t> </a:t>
            </a:r>
            <a:r>
              <a:rPr lang="es-ES" sz="1600" dirty="0" err="1"/>
              <a:t>summing</a:t>
            </a:r>
            <a:r>
              <a:rPr lang="es-ES" sz="1600" dirty="0"/>
              <a:t> </a:t>
            </a:r>
            <a:r>
              <a:rPr lang="es-ES" sz="1600" dirty="0" err="1"/>
              <a:t>over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attributes</a:t>
            </a:r>
            <a:r>
              <a:rPr lang="es-ES" sz="1600" dirty="0"/>
              <a:t> </a:t>
            </a:r>
            <a:r>
              <a:rPr lang="es-ES" sz="1600" dirty="0" err="1"/>
              <a:t>through</a:t>
            </a:r>
            <a:r>
              <a:rPr lang="es-ES" sz="1600" dirty="0"/>
              <a:t> </a:t>
            </a:r>
            <a:r>
              <a:rPr lang="es-ES" sz="1600" dirty="0" err="1"/>
              <a:t>all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rows</a:t>
            </a:r>
            <a:r>
              <a:rPr lang="es-ES" sz="1600" dirty="0"/>
              <a:t>.</a:t>
            </a:r>
          </a:p>
          <a:p>
            <a:pPr lvl="1"/>
            <a:r>
              <a:rPr lang="es-ES" sz="1600" dirty="0" err="1"/>
              <a:t>Winning</a:t>
            </a:r>
            <a:r>
              <a:rPr lang="es-ES" sz="1600" dirty="0"/>
              <a:t> </a:t>
            </a:r>
            <a:r>
              <a:rPr lang="es-ES" sz="1600" dirty="0" err="1"/>
              <a:t>streaks</a:t>
            </a:r>
            <a:r>
              <a:rPr lang="es-ES" sz="1600" dirty="0"/>
              <a:t>: 5 </a:t>
            </a:r>
            <a:r>
              <a:rPr lang="es-ES" sz="1600" dirty="0" err="1"/>
              <a:t>or</a:t>
            </a:r>
            <a:r>
              <a:rPr lang="es-ES" sz="1600" dirty="0"/>
              <a:t> 3 </a:t>
            </a:r>
            <a:r>
              <a:rPr lang="es-ES" sz="1600" dirty="0" err="1"/>
              <a:t>wins</a:t>
            </a:r>
            <a:r>
              <a:rPr lang="es-ES" sz="1600" dirty="0"/>
              <a:t> in a </a:t>
            </a:r>
            <a:r>
              <a:rPr lang="es-ES" sz="1600" dirty="0" err="1"/>
              <a:t>row</a:t>
            </a:r>
            <a:endParaRPr lang="es-ES" sz="1600" dirty="0"/>
          </a:p>
          <a:p>
            <a:pPr lvl="1"/>
            <a:endParaRPr lang="es-ES" sz="1600" dirty="0"/>
          </a:p>
          <a:p>
            <a:pPr lvl="1"/>
            <a:endParaRPr lang="es-ES" sz="1600" dirty="0"/>
          </a:p>
          <a:p>
            <a:pPr lvl="2"/>
            <a:endParaRPr lang="es-ES" sz="1200" dirty="0"/>
          </a:p>
          <a:p>
            <a:pPr marL="914400" lvl="2" indent="0">
              <a:buNone/>
            </a:pPr>
            <a:endParaRPr lang="es-ES" sz="1600" dirty="0"/>
          </a:p>
          <a:p>
            <a:pPr lvl="1"/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361921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BC39A-2113-6C13-E705-9BFA7025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185BDD-32F0-656F-6E55-FE0762D5E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s-ES" dirty="0"/>
              <a:t>¿Podemos replicar estos experimentos?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Algunos vienen de fuentes muy diferentes.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Algunos modelos se salen del </a:t>
            </a:r>
            <a:r>
              <a:rPr lang="es-ES" dirty="0" err="1"/>
              <a:t>scope</a:t>
            </a:r>
            <a:r>
              <a:rPr lang="es-ES" dirty="0"/>
              <a:t>: </a:t>
            </a:r>
            <a:r>
              <a:rPr lang="es-ES" i="1" dirty="0"/>
              <a:t>LSTM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Podemos aplicar dichos modelos a nuestros datos o aplicar nuestro modelo a los datos de dichos experimentos.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s-ES" dirty="0"/>
              <a:t>En vez de replicar los datos de manera exacta, podemos coger los mismos partidos y realizar experimentos con nuestro modelo y evaluar ambos experimentos.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1E9691-8D73-DC4C-063C-BA2AAC294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061" y="852117"/>
            <a:ext cx="4289884" cy="194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1622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1329</Words>
  <Application>Microsoft Office PowerPoint</Application>
  <PresentationFormat>Panorámica</PresentationFormat>
  <Paragraphs>223</Paragraphs>
  <Slides>19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URWPalladioL-Roma</vt:lpstr>
      <vt:lpstr>Wingdings</vt:lpstr>
      <vt:lpstr>Tema de Office</vt:lpstr>
      <vt:lpstr>STATE OF THE ART REVIEW</vt:lpstr>
      <vt:lpstr>Predicting The Dutch Football Competition Using Public Data: A Machine Learning Approach (2015)</vt:lpstr>
      <vt:lpstr>Predicting The Dutch Football Competition Using Public Data: A Machine Learning Approach (2015)</vt:lpstr>
      <vt:lpstr>Predicting The Dutch Football Competition Using Public Data: A Machine Learning Approach (2015)</vt:lpstr>
      <vt:lpstr>Predicting Soccer Match Results in the English Premier League (2013)</vt:lpstr>
      <vt:lpstr>Soccer result prediction using deep learning and neural networks. (2021)</vt:lpstr>
      <vt:lpstr>A deep learning approach to predict football match result (2020)</vt:lpstr>
      <vt:lpstr>A deep learning approach to predict football match result (2020)</vt:lpstr>
      <vt:lpstr>A Deep Learning Framework for Football Match Prediction (2022)</vt:lpstr>
      <vt:lpstr>A Deep Learning Framework for Football Match Prediction (2022)</vt:lpstr>
      <vt:lpstr>Deep learning for football outcomes prediction based on football rating system (2022)</vt:lpstr>
      <vt:lpstr>Deep learning for football outcomes prediction based on football rating system (2022)</vt:lpstr>
      <vt:lpstr>Deep Learning Approach for Football Match Classification of English Premier League (EPL) Based on Full-Time Results (2022)</vt:lpstr>
      <vt:lpstr>Machine Learning for Football Matches and Tournaments (2022)</vt:lpstr>
      <vt:lpstr>Machine Learning for Football Matches and Tournaments (2022)</vt:lpstr>
      <vt:lpstr>Prediction of Game Result in Chinese Football Super League (2022)</vt:lpstr>
      <vt:lpstr>Prediction of Game Result in Chinese Football Super League (2022)</vt:lpstr>
      <vt:lpstr>Football Match Result Prediction Using Neural Networks and Deep Learning (2020)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OF THE ART REVIEW</dc:title>
  <dc:creator>Guillem Pruñonosa Soler</dc:creator>
  <cp:lastModifiedBy>Guillem Pruñonosa Soler</cp:lastModifiedBy>
  <cp:revision>13</cp:revision>
  <dcterms:created xsi:type="dcterms:W3CDTF">2023-04-27T17:00:36Z</dcterms:created>
  <dcterms:modified xsi:type="dcterms:W3CDTF">2023-05-02T08:03:45Z</dcterms:modified>
</cp:coreProperties>
</file>